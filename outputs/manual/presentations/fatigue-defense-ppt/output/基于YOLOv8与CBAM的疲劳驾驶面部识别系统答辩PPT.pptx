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19846fe0714177" /><Relationship Type="http://schemas.openxmlformats.org/officeDocument/2006/relationships/extended-properties" Target="/docProps/app.xml" Id="R12bebf172d7f44b9" /><Relationship Type="http://schemas.openxmlformats.org/officeDocument/2006/relationships/officeDocument" Target="/ppt/presentation.xml" Id="Rcfb01d3d21c2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6f71ce1f8c4b78"/>
  </p:sldMasterIdLst>
  <p:notesMasterIdLst>
    <p:notesMasterId xmlns:r="http://schemas.openxmlformats.org/officeDocument/2006/relationships" r:id="R16a04bc61137410f"/>
  </p:notesMasterIdLst>
  <p:sldIdLst>
    <p:sldId xmlns:r="http://schemas.openxmlformats.org/officeDocument/2006/relationships" id="256" r:id="Ra66bb9102b2d427a"/>
    <p:sldId xmlns:r="http://schemas.openxmlformats.org/officeDocument/2006/relationships" id="257" r:id="Re8d7a74c4f464e9b"/>
    <p:sldId xmlns:r="http://schemas.openxmlformats.org/officeDocument/2006/relationships" id="258" r:id="R97da1e3a795a4513"/>
    <p:sldId xmlns:r="http://schemas.openxmlformats.org/officeDocument/2006/relationships" id="259" r:id="R3e18001a0ed94213"/>
    <p:sldId xmlns:r="http://schemas.openxmlformats.org/officeDocument/2006/relationships" id="260" r:id="R981c6ef407c848a3"/>
    <p:sldId xmlns:r="http://schemas.openxmlformats.org/officeDocument/2006/relationships" id="261" r:id="R82872065aeef430e"/>
    <p:sldId xmlns:r="http://schemas.openxmlformats.org/officeDocument/2006/relationships" id="262" r:id="R3d300fb14f7e44e0"/>
    <p:sldId xmlns:r="http://schemas.openxmlformats.org/officeDocument/2006/relationships" id="263" r:id="R5cf8f9b300a143f7"/>
    <p:sldId xmlns:r="http://schemas.openxmlformats.org/officeDocument/2006/relationships" id="264" r:id="Rfdfbebe7c9cf4e2a"/>
    <p:sldId xmlns:r="http://schemas.openxmlformats.org/officeDocument/2006/relationships" id="265" r:id="R99311747454f4cab"/>
    <p:sldId xmlns:r="http://schemas.openxmlformats.org/officeDocument/2006/relationships" id="266" r:id="Re71beb92d6cd41ed"/>
    <p:sldId xmlns:r="http://schemas.openxmlformats.org/officeDocument/2006/relationships" id="267" r:id="R220abcc1a6ee46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f71ce1f8c4b78" /><Relationship Type="http://schemas.openxmlformats.org/officeDocument/2006/relationships/theme" Target="/ppt/theme/theme1.xml" Id="Re9180512b63a41db" /><Relationship Type="http://schemas.openxmlformats.org/officeDocument/2006/relationships/notesMaster" Target="/ppt/notesMasters/notesMaster1.xml" Id="R16a04bc61137410f" /><Relationship Type="http://schemas.openxmlformats.org/officeDocument/2006/relationships/presProps" Target="/ppt/presProps.xml" Id="Rc08aedafd82e48aa" /><Relationship Type="http://schemas.openxmlformats.org/officeDocument/2006/relationships/viewProps" Target="/ppt/viewProps.xml" Id="R8043c376ed28458e" /><Relationship Type="http://schemas.openxmlformats.org/officeDocument/2006/relationships/tableStyles" Target="/ppt/tableStyles.xml" Id="Rb785fbda5db84757" /><Relationship Type="http://schemas.openxmlformats.org/officeDocument/2006/relationships/slide" Target="/ppt/slides/slide1.xml" Id="Ra66bb9102b2d427a" /><Relationship Type="http://schemas.openxmlformats.org/officeDocument/2006/relationships/slide" Target="/ppt/slides/slide2.xml" Id="Re8d7a74c4f464e9b" /><Relationship Type="http://schemas.openxmlformats.org/officeDocument/2006/relationships/slide" Target="/ppt/slides/slide3.xml" Id="R97da1e3a795a4513" /><Relationship Type="http://schemas.openxmlformats.org/officeDocument/2006/relationships/slide" Target="/ppt/slides/slide4.xml" Id="R3e18001a0ed94213" /><Relationship Type="http://schemas.openxmlformats.org/officeDocument/2006/relationships/slide" Target="/ppt/slides/slide5.xml" Id="R981c6ef407c848a3" /><Relationship Type="http://schemas.openxmlformats.org/officeDocument/2006/relationships/slide" Target="/ppt/slides/slide6.xml" Id="R82872065aeef430e" /><Relationship Type="http://schemas.openxmlformats.org/officeDocument/2006/relationships/slide" Target="/ppt/slides/slide7.xml" Id="R3d300fb14f7e44e0" /><Relationship Type="http://schemas.openxmlformats.org/officeDocument/2006/relationships/slide" Target="/ppt/slides/slide8.xml" Id="R5cf8f9b300a143f7" /><Relationship Type="http://schemas.openxmlformats.org/officeDocument/2006/relationships/slide" Target="/ppt/slides/slide9.xml" Id="Rfdfbebe7c9cf4e2a" /><Relationship Type="http://schemas.openxmlformats.org/officeDocument/2006/relationships/slide" Target="/ppt/slides/slide10.xml" Id="R99311747454f4cab" /><Relationship Type="http://schemas.openxmlformats.org/officeDocument/2006/relationships/slide" Target="/ppt/slides/slide11.xml" Id="Re71beb92d6cd41ed" /><Relationship Type="http://schemas.openxmlformats.org/officeDocument/2006/relationships/slide" Target="/ppt/slides/slide12.xml" Id="R220abcc1a6ee46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72edd257eae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bc04d53da4ca0" /><Relationship Type="http://schemas.openxmlformats.org/officeDocument/2006/relationships/notesMaster" Target="/ppt/notesMasters/notesMaster1.xml" Id="Rdefbb6d6c5d441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f26fbbf3fb45e1" /><Relationship Type="http://schemas.openxmlformats.org/officeDocument/2006/relationships/notesMaster" Target="/ppt/notesMasters/notesMaster1.xml" Id="R264609047007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23de6ad574ef8" /><Relationship Type="http://schemas.openxmlformats.org/officeDocument/2006/relationships/notesMaster" Target="/ppt/notesMasters/notesMaster1.xml" Id="R79fb83f477c6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406a2582b7432d" /><Relationship Type="http://schemas.openxmlformats.org/officeDocument/2006/relationships/notesMaster" Target="/ppt/notesMasters/notesMaster1.xml" Id="R56694b2700aa4c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8d7e7e09cf49f9" /><Relationship Type="http://schemas.openxmlformats.org/officeDocument/2006/relationships/notesMaster" Target="/ppt/notesMasters/notesMaster1.xml" Id="Ra0373493aa3748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865ff76ab4c3c" /><Relationship Type="http://schemas.openxmlformats.org/officeDocument/2006/relationships/notesMaster" Target="/ppt/notesMasters/notesMaster1.xml" Id="Rd3ec8469e96f40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347f6a0c004ce9" /><Relationship Type="http://schemas.openxmlformats.org/officeDocument/2006/relationships/notesMaster" Target="/ppt/notesMasters/notesMaster1.xml" Id="Rf5be1990934f4d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df760fe46481c" /><Relationship Type="http://schemas.openxmlformats.org/officeDocument/2006/relationships/notesMaster" Target="/ppt/notesMasters/notesMaster1.xml" Id="Ra7eba2a317f040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f98a7dbe334260" /><Relationship Type="http://schemas.openxmlformats.org/officeDocument/2006/relationships/notesMaster" Target="/ppt/notesMasters/notesMaster1.xml" Id="R42794cc4ae1b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a2c0116274ef4" /><Relationship Type="http://schemas.openxmlformats.org/officeDocument/2006/relationships/notesMaster" Target="/ppt/notesMasters/notesMaster1.xml" Id="Rf7dce523021542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40ed1e80734589" /><Relationship Type="http://schemas.openxmlformats.org/officeDocument/2006/relationships/notesMaster" Target="/ppt/notesMasters/notesMaster1.xml" Id="R8aa6544acaf94c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710099c4874fca" /><Relationship Type="http://schemas.openxmlformats.org/officeDocument/2006/relationships/notesMaster" Target="/ppt/notesMasters/notesMaster1.xml" Id="R4b4c8d984bbd45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a599d690844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a26d78d74349bc" /><Relationship Type="http://schemas.openxmlformats.org/officeDocument/2006/relationships/slideLayout" Target="/ppt/slideLayouts/slideLayout2.xml" Id="Rb489a7fc9a3c45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9a7fc9a3c45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b84d4e90494baa" /><Relationship Type="http://schemas.openxmlformats.org/officeDocument/2006/relationships/image" Target="/ppt/media/image.jpeg" Id="R9cff92e79def46e2" /><Relationship Type="http://schemas.openxmlformats.org/officeDocument/2006/relationships/notesSlide" Target="/ppt/notesSlides/notesSlide1.xml" Id="Rbc7c5d5d1604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9e31bceb9946ea" /><Relationship Type="http://schemas.openxmlformats.org/officeDocument/2006/relationships/notesSlide" Target="/ppt/notesSlides/notesSlide2.xml" Id="R553ef427615247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88957cd28f4109" /><Relationship Type="http://schemas.openxmlformats.org/officeDocument/2006/relationships/notesSlide" Target="/ppt/notesSlides/notesSlide3.xml" Id="Rad16c21f482048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956dbd9a84a46" /><Relationship Type="http://schemas.openxmlformats.org/officeDocument/2006/relationships/notesSlide" Target="/ppt/notesSlides/notesSlide4.xml" Id="R8ca971b563fc4a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dcf7d4abf54fc6" /><Relationship Type="http://schemas.openxmlformats.org/officeDocument/2006/relationships/notesSlide" Target="/ppt/notesSlides/notesSlide5.xml" Id="R14195caa806b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cc804c880472c" /><Relationship Type="http://schemas.openxmlformats.org/officeDocument/2006/relationships/notesSlide" Target="/ppt/notesSlides/notesSlide6.xml" Id="Rf04102ad2e9d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5a7c71a1d7477a" /><Relationship Type="http://schemas.openxmlformats.org/officeDocument/2006/relationships/notesSlide" Target="/ppt/notesSlides/notesSlide7.xml" Id="R467ec0017a194c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77fbe8c554bee" /><Relationship Type="http://schemas.openxmlformats.org/officeDocument/2006/relationships/notesSlide" Target="/ppt/notesSlides/notesSlide8.xml" Id="R3bd0b001fd7b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4161fa059437f" /><Relationship Type="http://schemas.openxmlformats.org/officeDocument/2006/relationships/notesSlide" Target="/ppt/notesSlides/notesSlide9.xml" Id="R2fb1f98aa7b74e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e9473cb96460d" /><Relationship Type="http://schemas.openxmlformats.org/officeDocument/2006/relationships/image" Target="/ppt/media/image.png" Id="R55d0c5ab6c89405d" /><Relationship Type="http://schemas.openxmlformats.org/officeDocument/2006/relationships/image" Target="/ppt/media/image2.png" Id="R0d3acbadc3de4ec7" /><Relationship Type="http://schemas.openxmlformats.org/officeDocument/2006/relationships/image" Target="/ppt/media/image3.png" Id="R95210334b7914fdc" /><Relationship Type="http://schemas.openxmlformats.org/officeDocument/2006/relationships/notesSlide" Target="/ppt/notesSlides/notesSlide10.xml" Id="R3a1eeaf511fb41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33591dae5449b9" /><Relationship Type="http://schemas.openxmlformats.org/officeDocument/2006/relationships/image" Target="/ppt/media/image2.jpeg" Id="R8384d746a42d4497" /><Relationship Type="http://schemas.openxmlformats.org/officeDocument/2006/relationships/notesSlide" Target="/ppt/notesSlides/notesSlide11.xml" Id="Rffb129a9dadc4c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4ad7593dd43a2" /><Relationship Type="http://schemas.openxmlformats.org/officeDocument/2006/relationships/notesSlide" Target="/ppt/notesSlides/notesSlide12.xml" Id="R70a93d13fd5a45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2CB96-FE30-4022-8672-D8EFB9A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2C72D-D546-453A-A78E-CF9A238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f92e79def46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143000"/>
            <a:ext cx="4000500" cy="3000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4E9C7-EAFC-4F55-894F-D9AA837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4000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DD4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9DD43-AD62-439F-92FA-51A222E2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YOLOv8 与注意力机制的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0E552-AA4F-4771-BF5F-1481DB0A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疲劳驾驶面部识别系统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F6933-AB39-412A-9AC3-D3715DD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本科毕业设计答辩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0ECB2-A47D-405E-B068-1C8E01CD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622C2-8FA2-46F7-8E33-D8C83894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YOLOv8n 轻量化检测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0C39B-283C-4845-A869-F440DE64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F9D09-637A-4AA2-B170-94605036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CBAM 注意力机制改进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8AB6B-0DB4-485D-8A83-3EAFA4B3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F81A0-8C1D-4814-952A-EBCDA20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PyQt5 桌面演示闭环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603E2-9602-4C57-B648-E3BC944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4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AB058-35D9-447C-838A-ECFA6826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43425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疲劳驾驶检测 · YOLOv8 · CBAM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5BD76-1DFA-4F1E-868F-EC1BAD63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34437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742F7-8F9B-4092-870A-1B52A00A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3D4BD-3D7A-4DE0-897E-967E715B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1168A-EEA2-4229-8C23-47E26EC9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0A0A9-E020-4B26-9923-D621874D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381A0-EAC9-4619-A140-046DF7F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8248C-39FC-480C-A8DA-04B21F3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8DF6E-24E3-4B03-8945-773CFF11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9EC77-C6BC-4ABF-9891-AF29D588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615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疲劳驾驶会导致反应迟缓、注意力下降，是交通事故的重要诱因之一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1CE28-673B-47ED-9650-4BC74EB5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7768F-C620-4C69-AE5B-0FF627B9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615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闭眼、睁眼、打哈欠等面部状态可以作为疲劳检测的视觉特征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AD3BA-D473-4D67-8377-10C833E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9CB4A-1FD9-416A-A77F-5FCC3C51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615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目标：构建可训练、可对比、可演示的轻量化疲劳面部识别系统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916F1-BBFE-4FDD-A71C-3A80CDD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76D79-0BF3-4239-8A6B-4703DD42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8375C-CA5B-430A-8788-35AB5754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检测目标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2B4A8-349D-4E7F-8C9A-E10D152E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6A8D3-9E12-4271-8AE8-5E7FD813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Eyeclosed / Eyeopen / Yawn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5B30A-E6E2-4273-B059-45F8685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70DBF-6483-4AD3-AA3C-75C4A50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FC1E-06C5-4C7F-B0B2-1969B094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实现形态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E2B04-61B5-4F87-BE56-CD25FBB6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桌面系统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AEE8D-E5F4-4592-979D-13BDBBF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图片、视频、截图、日志</a:t>
            </a:r>
          </a:p>
        </p:txBody>
      </p:sp>
    </p:spTree>
    <p:extLst>
      <p:ext uri="{BB962C8B-B14F-4D97-AF65-F5344CB8AC3E}">
        <p14:creationId xmlns:p14="http://schemas.microsoft.com/office/powerpoint/2010/main" val="15940633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B5F09F-3B64-42F4-B6A8-D455683C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A3AA0-7990-4CB2-B39B-F92A6665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F270F-1651-49B9-8407-775606EF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工作闭环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7B870-7113-49A9-B0BB-F1A1C6C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8DF01-3F04-4B57-94C0-6F774EF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4D5D7-015F-4477-A036-BF86EA8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613AD-A544-48E5-80BD-397DA50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EE72-72D0-46F9-9E1C-96243AA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数据集构建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A8B16-C1B7-40AC-B7C9-C0ADEA59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95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D578D-5574-46A9-9D03-B3E62F9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20DF8-485F-402E-AAD8-4B23117E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8BE5F-3AA5-468C-86E5-78B412EC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基线模型训练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9D27A-F444-48CD-BC08-9242A54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C19B4-F97E-4A71-BEAB-7615B153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516FE-4178-43A1-B961-96362F6B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3C8D3-F816-4A9E-B5BC-570A1CAC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4792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CBAM 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A9E9D-1543-40E5-A1F7-358423D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5EC9F-D4A6-4D3D-8640-CEDC29E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B027F-1AC2-4C3B-B7B5-9B1EBF0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33625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1F5CC-6D5B-4018-97AC-956DE85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实验对比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8DF82-1386-4C0F-BDDD-8D067A86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95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6EB3D-10B4-4B4D-B770-585C70D2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0F151-92D9-4350-AE71-DB6A5C57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3625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165AE-C505-4650-BBCD-36C1A01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4792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FDB5A-11F8-4C66-9902-98754767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9F4DF-C770-4026-B422-45CC06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815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围绕三类疲劳面部目标构建 YOLO 格式数据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48EC8-2EED-4488-B8D0-8BE4704E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64166-5844-4156-8EA0-73AA6B50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815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 YOLOv8n 基线并引入 CBAM 注意力模块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4A3536-2A32-425B-87B7-27BD8A9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E1E52-9C6E-4F51-AC16-9789E42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05350"/>
            <a:ext cx="815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使用指标、曲线、混淆矩阵和系统演示验证效果</a:t>
            </a:r>
          </a:p>
        </p:txBody>
      </p:sp>
    </p:spTree>
    <p:extLst>
      <p:ext uri="{BB962C8B-B14F-4D97-AF65-F5344CB8AC3E}">
        <p14:creationId xmlns:p14="http://schemas.microsoft.com/office/powerpoint/2010/main" val="9934390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C934B-81DD-4248-9FA5-82507F5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FEB81-27CE-445E-A3B1-13EDB02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890F9-9C8A-42DB-ABDA-9C61F7D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BC95C-1A38-41D0-B449-C67172C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数据集与预处理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F02AE-F75F-4A7B-8618-F60A38A9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1005F-609B-4177-99E0-14BAF0D8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BFA1F-FD05-4686-B8B0-52E40D87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FB586-56BA-46D5-A7F3-C2E94AA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861F2-949E-44B6-82B7-A05053DA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19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EC2B4-CB5C-4ED2-AD6E-C873A481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145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C291F-1D22-469B-BA7E-64B8EDC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19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15059-F9D2-4A1B-9E6A-0B667B7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9DEB8-A50F-47CE-827A-D470534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660E2-3A0B-4C04-AA70-89AC810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145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目标实例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55F98-CC5F-4BD4-9487-5DF842B0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18403-868F-48CD-9F5D-BBBBDD5F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Eyeclosed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25B81-47D0-4EA6-90BA-D4D6C953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33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48C21-B3CD-4D38-8FF4-31D0FE5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288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闭眼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E7594-D6A3-418E-895A-C19016B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33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E5BC5-19A6-4445-9D2B-CDC39DF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700A2-768C-4670-8542-F602B0A8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09683-8B3F-4FE1-9B5A-B8DEE6F0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88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D6D39-CA0A-41FF-A46A-3251CAD6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53545-7532-49CB-BEF5-6779B07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Eyeopen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DC5D8-48D6-4978-913B-C8C21B7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57387-9974-4312-B620-8EDA859F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432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睁眼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BD470-2934-4987-A7F7-5A24824A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BF5726-F1A3-4628-9EB8-B9FAC2D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432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D1FDE-9913-4C09-A5E3-130A07F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3133A-4F74-4C45-9287-C8E8578E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F83FA-82A3-4E92-B8B3-A875E24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BA605-A95B-45F4-B865-0B745000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Yawn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5CFBF0-0927-4291-B15B-8309BDA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C53A4-14D1-4EA2-9C25-1E42C8E8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打哈欠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FE0E3-DEE6-4D01-929C-0FE9A28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62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9836C9-D18B-4428-B827-213C32F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598206-1EC8-4B15-8F47-C20DCB6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6CC835-CE24-466B-ADEE-B9215181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1ADDE0-1877-42AD-9047-8E517B4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91D2ED-D3E5-443B-B25C-B924B6B2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005EA1-E9FD-4A07-B19F-E22A043F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标注格式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901CCE-6BCA-4F50-B1EB-81C1D609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YOLO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9241B-4053-4A1B-A6CA-83F86142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统一类别顺序与边界框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085114-6DF1-4565-8BBF-C2AD01DE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BEF7B7-6A9A-48F0-8F65-BA459B54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2556D8-E8CE-468C-8098-5232347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8548BA-E42A-4DC4-AE43-056D7E0B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433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缩放 / 填充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931826-6793-4D37-9F3E-A6E762F4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输入尺寸一致，坐标同步变换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E5105A-075B-47D4-AA62-89B58676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558F9-0CD6-41CB-802F-60DFE3C4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3D991D-3AF8-4BE3-B013-2F151A73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主要不足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2896FB-B75E-48A7-9927-0F06DD7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场景覆盖有限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AA7C60-F01A-4E58-9E20-0733AC32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483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夜间、遮挡、侧脸样本不足</a:t>
            </a:r>
          </a:p>
        </p:txBody>
      </p:sp>
    </p:spTree>
    <p:extLst>
      <p:ext uri="{BB962C8B-B14F-4D97-AF65-F5344CB8AC3E}">
        <p14:creationId xmlns:p14="http://schemas.microsoft.com/office/powerpoint/2010/main" val="6961729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6E5BB-8F1D-4C56-AC39-D29A5960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CD98-DDB4-4A67-8BA7-FCDEA02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BA14B-6A5F-4A42-9404-421E1ABF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9B177-331A-42F7-97F8-C61986D8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4B4DD-A21F-4BB8-A295-4E9FE8F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390BA-0CD7-4D43-89A4-C55DB068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B71E0-A81D-4025-99A8-CE46567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13023-84BD-4AD3-86F7-7B08A5C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7788F-5D81-4422-8D37-98A1ABC1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574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56F2A-8306-4F29-9BF0-68E2696F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A52DE-053F-458A-B88C-B40EE81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14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D5EB0-CC45-4EC5-954C-A03D0E8D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2880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YOLOv8 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48CE7-DE9B-477C-A59E-FB52C0EF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1C552-BE31-4FA8-B97F-193A7834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740B5-7C67-4F65-B9BE-4F668137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14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5811A-272D-4037-96FC-A070BFEB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2880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疲劳特征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83619-0B41-438D-8DAE-991E7916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D3C09-37BA-4F9B-ABF1-D2233A2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AFF79-6C85-4418-9D86-92B4E0E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14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E300D-D9C7-43E8-91DA-EF84AAA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B4810-5BA2-4FA2-AB26-B8786B9A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574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ACE77-5B38-4158-A4D2-53842F2D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009A3-C27D-49A6-A97A-233F4DE7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3A0DB-7862-437C-AA82-C027D7A9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D481F-47EC-4833-8D1A-96A3B4FD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0FC05-5CAC-4A01-A677-B9A6928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6125"/>
            <a:ext cx="853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输入层：图片、视频、摄像头接口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934FB-A518-4F3A-BBE4-A6B80550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26F38-4F8C-4599-8584-27C3E4AB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43325"/>
            <a:ext cx="853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模型层：YOLOv8n 与 YOLOv8n + CBAM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7A403-CE51-423C-90DB-3981E2E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9DF4D-04AE-43C4-840F-7D76E61A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00525"/>
            <a:ext cx="853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规则层：闭眼比例与打哈欠次数滑动窗口判断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6E668-C3C3-4A28-B4E3-F3BF9F69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1090D-96B1-45A5-96AC-B346759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853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展示层：检测框、疲劳状态、截图保存和日志记录</a:t>
            </a:r>
          </a:p>
        </p:txBody>
      </p:sp>
    </p:spTree>
    <p:extLst>
      <p:ext uri="{BB962C8B-B14F-4D97-AF65-F5344CB8AC3E}">
        <p14:creationId xmlns:p14="http://schemas.microsoft.com/office/powerpoint/2010/main" val="4847117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F46EF-CAB7-45B0-BDE8-918408C8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D1774-2A38-4DE6-B296-F8AAB18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E71C1-C724-4937-A912-5A5D80E5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方法设计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3EA38-B328-4713-98C0-60027E21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模型设计与 CBAM 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78974-8930-427B-8D88-8FF034DB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EB7F1-DF5E-46BA-B9AF-5B5DAFEB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A8FFB-1E47-4492-B327-6FF8B7F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47215-DBAF-4FE4-9F88-FFC1744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Backbone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52D77-A93F-4143-8E95-097EE1B9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D2FBB-AAAA-432F-9FB5-67EF4D0C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SPPF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B25A5-DAB5-41B7-8A2B-BCACB33A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F8C76-36D0-4486-A7D3-60D3247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145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CBAM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3DCB-5A48-4B9B-9A25-D3BF37D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7DFA2-74E0-4EF7-AD5D-4E095603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Neck /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B2E89-6B66-4B89-AB53-4C2D53E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61E60-CDF6-4F7E-8DC8-DB51D54A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三类检测结果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9F1B1-B100-4BA8-B0C2-66536DB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175FB-A226-4601-82A4-1F851673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14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4544B-E961-440E-ACBB-5E5390B0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5C120-817B-4B1A-B0E8-03CD4A9D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14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BE95D-B4E1-4207-8EFE-FA22647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643C5-7AD7-43C4-9549-27E936C4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14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08662-B03D-4285-81CD-0529C24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6BDAE-8CED-4174-9708-13D5B29C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314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16AC0-D510-424A-B3A5-BF59903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95F16-A988-4A48-A121-7914487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872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YOLOv8n：参数量小、推理速度快，适合毕业设计演示和轻量部署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5E6D2-BEFE-4C10-BC25-D6FD1F7D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0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B8806-3141-4CCD-A228-9A5A932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72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CBAM：通道注意力 + 空间注意力，强化眼部和嘴部局部特征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083F7-4809-4F39-A2A2-4DE1EA1A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8ADB2-FC76-4497-A274-62AA8AF1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872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嵌入位置：Backbone 末端、Neck 输入端，即 SPPF 模块输出后</a:t>
            </a:r>
          </a:p>
        </p:txBody>
      </p:sp>
    </p:spTree>
    <p:extLst>
      <p:ext uri="{BB962C8B-B14F-4D97-AF65-F5344CB8AC3E}">
        <p14:creationId xmlns:p14="http://schemas.microsoft.com/office/powerpoint/2010/main" val="18173733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9811B-BD13-4933-9E17-6296A088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43F32-6AFE-41B9-A1FC-9EFD51DE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B27B3-C2AD-418F-A9E0-BC03944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规则实现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A56DA-0E61-41A7-8D68-2D3AB66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疲劳状态判定与系统流程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BFF50-CB09-4247-9164-51EC9828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C77FB-72CE-4BB7-8ECC-1E79195B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301C6-E302-4CAB-97A7-E03B313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502BF-4012-45DA-A350-EBCA908A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266BC-2F7B-4613-AA2C-4C4013BD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闭眼比例阈值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A6E1A-6850-41D2-9DD6-4889E45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39458-DC8E-43BA-8BE0-33E5F01B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达到阈值判定为疲劳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1B04B-8F90-4D12-88F7-33F520F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73F14-BC93-4008-B3D9-99E07BCB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A1147-E63F-4AA2-BBAE-DD8A5C18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907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疑似疲劳阈值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C62B5-9508-445D-913C-CB5B6C5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527BF-AF9B-44C2-9AF5-9A09C684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进入提前提示状态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B762B-BA25-4DD4-B315-6AF959C8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7022F-BFC3-42A7-ABD0-403F91BB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1D402-8000-440D-999D-08697B92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打哈欠事件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DB720-846E-4B7A-BCE5-7766C7D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≥ 2 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497C3-79AB-4A2D-AC83-9A7381E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触发疲劳报警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A7780-C72A-414A-9E77-CC48A73F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25DF7-E17F-4EF1-BC98-0743E033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57625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对每帧检测结果提取 Eyeclosed、Eyeopen、Yawn 最高置信度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31EAD-7D92-43B8-AF54-4D374D5A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5C8BB-6B8D-4EDB-9DBA-D54E18D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52925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 90 帧滑动窗口统计闭眼比例和打哈欠事件数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1FCB3-FBD7-49EB-9372-626E8C3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AB0B4-5D52-48E4-AC54-E55495E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48225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 normal、suspected_fatigue、fatigue 三种状态</a:t>
            </a:r>
          </a:p>
        </p:txBody>
      </p:sp>
    </p:spTree>
    <p:extLst>
      <p:ext uri="{BB962C8B-B14F-4D97-AF65-F5344CB8AC3E}">
        <p14:creationId xmlns:p14="http://schemas.microsoft.com/office/powerpoint/2010/main" val="12999222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A9018-B131-4453-9996-2CF5CEA1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A11D2-BC93-473A-8231-08071C86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FC7FE-924D-47F5-87D0-D83EC0FA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可复现性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9F19B-ED60-4E06-BC72-4621648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实验环境与训练设置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30D08-C414-49CC-B9A6-15CB64C3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162EA-4780-44CE-BE6A-5B76566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54A66-5428-427A-A712-A8FA9E5A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E7CFA-55A1-4DA6-9D3C-E6AA864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7882D-8EFA-4AC8-AF71-B4D1556E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716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39F67-C044-4F1C-B298-36485EBD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4C462-23DB-41BE-A83C-78A4E8F1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0FBB-4C3F-46FD-A3D4-FA6CE600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55996-4139-4F01-A095-C10FA82D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716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34EE7-1D07-4FEC-8206-A3B15C16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476FE-719B-4B05-A791-5597536E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B291F-3D47-47B2-9D44-878D21F3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0BB79-514A-416B-A127-50F0ADC7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859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5271E-FA1D-44BE-9EC6-70D280AA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812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YOLOv8n / YOLOv8n+CBAM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EDB0B-77FB-47FB-8DBA-F73A9AF8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859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73ABA-FFCC-4293-806C-6284DAA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812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输入尺寸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9A864-C04B-4743-8E8B-7726E12E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859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15902-6B46-41AA-82FC-F0BC9F98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812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640×640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53D90-E904-416D-819C-477197E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124F4-DC40-4948-8647-CAF1881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训练策略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9A418-4835-4D9C-B06E-DB16FB4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03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305DA-97CC-4DAD-8A14-C0DA0F2F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9557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AdamW + Cosine LR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12CB5-8A70-4C9F-A3D2-F368DF1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870B-4E6B-4490-B195-AA9B215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数据增强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8B559-6D8A-431A-9EF1-5A469BB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03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8561D-7E62-4C32-B2EF-061101F0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Mosaic / MixUp / HSV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54538-41C8-45D3-A0E0-39C23B6D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AAD81-B7FA-4CD0-BED4-086F11BE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3406C-A9A1-4075-B39B-23990B3D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146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1DFD4-06D4-4479-8E51-FB14F9C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Precision / Recall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DF977F-8116-45D3-A618-F84F6E6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146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9572D-C363-45AB-8E46-3123EB7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02A1F-8B36-4F61-885A-D5D860B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146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5A559E-878F-4E65-ABDE-6D70AFA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mAP50 / mAP50-95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9855F-D6C3-418D-B1F1-A4759CE7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29CF8-8B0F-4C42-9F89-01BD7DA0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对比方式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108A7-3391-4683-A1DC-676D0DC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290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89D8AA-E81C-4B70-A767-FFD4387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427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两组模型对比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57A110-3EEB-4172-8098-F26866F0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290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FFBCF5-7E0F-48D1-B6B4-0C578AB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输出材料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B47206-0804-4B22-A5F7-BFA48DF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290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416627-DD21-4FED-92EE-F13800F5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2427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曲线 / 混淆矩阵 / 系统截图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988FC5-3CE7-4765-8A74-BA457E15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说明：两组实验保持相同数据集和训练设置，便于观察 CBAM 对检测效果的影响。</a:t>
            </a:r>
          </a:p>
        </p:txBody>
      </p:sp>
    </p:spTree>
    <p:extLst>
      <p:ext uri="{BB962C8B-B14F-4D97-AF65-F5344CB8AC3E}">
        <p14:creationId xmlns:p14="http://schemas.microsoft.com/office/powerpoint/2010/main" val="302247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FBE6D1-8F38-4FB7-9545-7D1A22DE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BD971-B67E-4516-9F38-1E107390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F2FEB-F6D4-468D-9D73-ED2344DB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结果总览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A059C-49D4-41C5-A0E9-37A58948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核心实验结果对比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8FE1E-CBC0-4B28-A29F-0E79B6A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5775A-D448-414E-8A69-E313495B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7F7F3-E1E1-4E96-9839-CA050E50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D29EF-F88A-484A-97FB-971DFAE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D769D-0E97-4989-B12C-5BBE1BA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00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F6CCD-86B1-4293-BED6-C4E971B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954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E9158-8648-45D1-9CE4-51D402B2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0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E0C6B-3B48-4F68-B575-7E15318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C0631-6982-4E59-B278-CE43D77A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1D1E6-9F34-4DB0-831E-260898F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954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mAP50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39141-79C0-4AF9-B80A-CCDD166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00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60912-1ADF-4571-A327-BDF1E166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mAP50-95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06084-1581-4F62-9485-9C0FAC73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00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544B9-891F-4B04-90EE-1D7F80C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954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7F60D-D3BF-41A8-9346-9130607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44DDB-DC21-47E8-BE1B-DB9E43C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YOLOv8n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81663-4BAF-4D12-B886-F8F0160B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FB993-7721-49EE-88B6-4529B23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0.6868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CC183-34FF-4810-A92A-762D8C1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CDD2C-6106-4B6A-85D1-451C0926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0.9114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968F3-266B-48C6-97AA-50B23F4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E8CAB-3AA4-4E0B-8CE3-FC052F92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479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0.8347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4CDE0-EE25-4846-AE88-D4DB1B9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505F9-3471-4704-A981-1E89DB41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479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0.5368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C7438-A156-43BD-B1F9-71F11360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E39CA-9A68-4519-9964-1C1F6529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0.9 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C228A3-0542-444A-B822-BDA34E6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47DC7-CD5B-41E3-97B2-2309FECE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YOLOv8n+CBAM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6C4E5-F7ED-40E6-A3D8-0C1D5D6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05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E19F2-6F3C-4131-8F97-CD9A553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0.6840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B0F1B5-58A6-4C70-A0D8-089356B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CD50C-A389-4521-933D-4C5990EB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0.9370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28D30-D410-4962-88C3-447762A4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05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D1B83-8D60-4740-92A7-74B8CEB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0.8580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A42A0F-3BA2-4B04-83AE-521A62B1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05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2C7A76-AAA7-450E-A488-E81E188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0.5470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2689AE-E271-46AE-8C53-6F989B69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05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D530EF-3841-417C-845B-A432A0E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1.1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AEA56C-7AA8-4827-9241-3567C34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932A12-7FE0-4644-B7E4-C421BE3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9DB05F-8D88-40AE-B7D8-5A0F2D68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mAP50 提升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3E35BA-BEA3-4950-A4BE-AAA252B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+0.0233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85492A-80B0-423B-8862-23BF8EE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0.8347 → 0.8580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B4DBCD-60FB-448E-BFFD-4EBAD0B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308EDE-A9FC-459B-8E1C-54C0EDC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5C46A8-DE13-4D4A-9907-1AEA73DE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Recall 提升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E2C139-E0F9-4B07-8A00-7A292A3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+0.0256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3A49BB-0F41-4412-B8CE-C35ED1AC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0.9114 → 0.9370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280031-A683-4500-A6CC-14EA9FEA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56EE0A-9FE1-4E8B-91B1-62AC2B8D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FA753E-87E3-4889-9187-ED236B2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参数量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4BE14A-C304-4DFD-A74C-6357F86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约 3.08M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6E0B37-34EC-4E2C-A402-8F18A73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仍满足轻量化需求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1EFE03-0B6D-4F12-808E-47FB4E42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结论：CBAM 轻微增加计算量，但提升了召回率和总体检测精度。</a:t>
            </a:r>
          </a:p>
        </p:txBody>
      </p:sp>
    </p:spTree>
    <p:extLst>
      <p:ext uri="{BB962C8B-B14F-4D97-AF65-F5344CB8AC3E}">
        <p14:creationId xmlns:p14="http://schemas.microsoft.com/office/powerpoint/2010/main" val="6034360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C0329-7B48-4033-9390-3FF7A6D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29050-C3FC-4EA2-B3D0-A07809C1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28A80-891F-472F-AD94-BA388321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细分表现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22734-1BF7-4CA7-9AED-1FB44FD9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类别结果与曲线分析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2232C-1A69-48FA-9EBC-0E40633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EA75F-72DE-433F-B661-9690189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4A8CF-0807-4CDD-8919-C0D6C89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54BEE-DB56-48F0-9D20-804447E4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21AE3-8AA7-4386-B255-8688B3B5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24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40310-2EB6-4116-BF74-2E52844F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192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24EE2-2D2E-4D29-BECF-259C2B79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FE8BB-0E41-4058-A6BC-C69E59BE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51DA9-74E3-4F52-BB8F-99DB66FA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24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8275E-D8B6-469E-815E-291DB4BA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mAP50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5CDC6-DFF2-4918-B419-965BF41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9633C-70D6-4000-AD53-49863EA4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mAP50-95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36F1A-ABF6-45FC-BEFA-63E50D2B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7F993-0AED-4033-834F-1D072AC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Eyeclosed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F93F2-E681-4D3D-B6A0-0A3FBA6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81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83757-3E12-45E2-9619-E302C728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0.871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16E81-0957-4F32-8C44-48C17630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81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BA2FD-820B-4A33-9EA6-57D4A649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0.946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C86B9-BEC3-40AC-8193-305D07BD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9CE00-2E85-4541-ACD8-957D2F4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0.973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24F6E-4D6F-4001-84A2-7FF62E6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81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A1654-424A-4335-867A-CB72771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0.574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2AB9A-3CE2-4768-8F3B-07BC503D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38AC37-6262-4A3C-8DF4-D6C33A4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Eyeopen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A97F9-F6CA-4E2A-87C6-CABEF964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38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1D62F-F13E-4FC2-AA90-2FE009A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336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0.657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7B29FD-AC22-4E9A-B320-E097FF4C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17A12-F0A1-4B7E-8A79-EEE0AC6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0.889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2E9F15-E3BA-495B-8809-0BAB581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38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62B97-86AD-46E8-908D-4F7C44B3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0.839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2BCAA8-ED68-4D0C-94C5-EFEE2C4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38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9B308D-4EF1-4536-882C-101E69A5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0.531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769E6-7A95-486D-8E8D-BFCCC317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332A06-CEED-4097-A866-9FAD6AE3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Yawn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7115C0-67E3-497F-AE85-C4C3DD28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5A749D-E461-43B5-8249-D8DD182B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0.524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D3D716-818E-4DBE-A9E6-1DBF257D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9CAE0E-71F9-48FE-AFEF-C29D84B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0.975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59C533-D082-4547-BCB7-2996923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31B800-AC7B-405D-AF4D-792ECAC6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0.762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F5CA7A-F775-48C8-82C0-D1AA2132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519448-CB5B-4667-BFC0-8EA12459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0.535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0c5ab6c89405d"/>
          <a:stretch xmlns:a="http://schemas.openxmlformats.org/drawingml/2006/main"/>
        </p:blipFill>
        <p:spPr>
          <a:xfrm xmlns:a="http://schemas.openxmlformats.org/drawingml/2006/main">
            <a:off x="6858000" y="1436687"/>
            <a:ext cx="2190750" cy="1460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acbadc3de4ec7"/>
          <a:stretch xmlns:a="http://schemas.openxmlformats.org/drawingml/2006/main"/>
        </p:blipFill>
        <p:spPr>
          <a:xfrm xmlns:a="http://schemas.openxmlformats.org/drawingml/2006/main">
            <a:off x="9239250" y="1436687"/>
            <a:ext cx="2190750" cy="1460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10334b7914fdc"/>
          <a:stretch xmlns:a="http://schemas.openxmlformats.org/drawingml/2006/main"/>
        </p:blipFill>
        <p:spPr>
          <a:xfrm xmlns:a="http://schemas.openxmlformats.org/drawingml/2006/main">
            <a:off x="7572375" y="3190875"/>
            <a:ext cx="3048000" cy="22860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00E2C0-62EF-4248-BC25-BFC956A9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Yawn 类别 mAP50 从约 0.693 提升到 0.762，说明注意力机制对嘴部局部疲劳特征更敏感。</a:t>
            </a:r>
          </a:p>
        </p:txBody>
      </p:sp>
    </p:spTree>
    <p:extLst>
      <p:ext uri="{BB962C8B-B14F-4D97-AF65-F5344CB8AC3E}">
        <p14:creationId xmlns:p14="http://schemas.microsoft.com/office/powerpoint/2010/main" val="8186216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2198A-2D84-4E35-BF98-4BA87AF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67CBF-9AAA-4DFE-97E2-FB43E49F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567B3-5EE3-466D-B6C7-F2D77F4E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工程实现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4A143-3079-499B-B999-4B9199F3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系统演示与功能测试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C3DE-0CB8-47F5-8548-B71AA84B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FB3AC-2C54-40E3-A7EA-4D83228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4d746a42d4497"/>
          <a:srcRect xmlns:a="http://schemas.openxmlformats.org/drawingml/2006/main" l="0" t="71" r="0" b="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428750"/>
            <a:ext cx="4476750" cy="3352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2A60-208F-420C-88A9-280B677D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476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4F6F7-92C3-40A3-AD84-D16A200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CA4C7-439D-4446-ADBB-8396CB60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668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3394D-8CB5-40AD-AD6E-090BB0E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C79FF-221F-4ED0-9279-AB1A7438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668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601A4-2B67-48AE-8A7E-0D5D3F1A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28825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3DAEB-0FF8-41EC-8917-88CA10E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240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模型加载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B719B-FF75-48C6-9245-E375EAF7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28825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3E58C-43D3-4E3E-B5C9-5D434244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8E4C3-50E6-4CFF-BBC4-C079596C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CCD1F-4DDE-458D-9465-42D2D59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812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图片检测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311A1-4387-441B-BAE1-EAAA7DA1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39E50-87F0-4847-9167-7C5D08E2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812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A481B-42F2-4358-B3EB-66F4B0E9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EB2EF-DD3C-45E0-BF82-F3C117BC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384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视频检测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60F7C-1EFE-4569-9DFD-B85D5E1E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43225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395B6-5679-44D4-A2DF-4C1BC889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38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9C208-B523-4706-9B1E-7A95C2BE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0425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4A8BC-AC4D-4527-AC37-1A34DF8D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956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疲劳状态显示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DC577-F063-4632-9C8C-EB64DB6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0425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4CBCE-AD4D-4819-A43A-CE10A9E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9C42F-E218-42A5-A9BF-42E4B8D0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85BE3-0AA8-43B3-A82F-28D96EC9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5287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截图与日志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84C77-F91B-44FE-98EC-16BB41D3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C98EB-B758-4DF9-B91E-40E78AC1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528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940996-D10F-46FF-8E13-CA83504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9625"/>
            <a:ext cx="457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测试样例：Yawn:0.95，系统输出 suspected_fatigue，形成检测、判定、显示与记录闭环。</a:t>
            </a:r>
          </a:p>
        </p:txBody>
      </p:sp>
    </p:spTree>
    <p:extLst>
      <p:ext uri="{BB962C8B-B14F-4D97-AF65-F5344CB8AC3E}">
        <p14:creationId xmlns:p14="http://schemas.microsoft.com/office/powerpoint/2010/main" val="12973301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928CCA-EC8B-477C-BA86-FD02AF76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9234C-3039-4445-9097-1B2083F2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A1621-8872-4DA4-8C2A-312FC15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答辩结论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F70AB-E89E-4EE9-8301-723910CB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FAC17-5E85-445E-B015-1FEA6956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1C16B-8807-40D1-9F96-7AF13108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D5970-AE34-456F-94BA-267A2EA2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8665E-5AA4-4ED9-A437-621F5172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DFD3C-C19F-4428-B53B-CE546148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完成内容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CB198-E713-4F3C-8C57-860A625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 个闭环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BB2C2-E7CC-464C-9599-E22D2AE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数据、模型、实验、系统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03CCD-DC03-4D3C-89F3-E5B4033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3911A-4A99-406F-8B23-BAEFF7FB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D8BD9-61B4-4C43-8689-61CA738C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954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核心改进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E0236-D585-4042-AC2D-35C951D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81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CBAM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AC529-6B25-4DD7-A860-63583DC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增强眼部与嘴部特征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5B7BA-7AE4-49C5-B302-7525B57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604CD-6F10-4F27-99AE-F30348B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DA916-D268-4B00-BAEE-0583549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453B5-439D-4ABC-A810-AC03A95D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mAP50 0.8580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18858-4D8B-4334-94CB-B0685F7F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整体优于基线模型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330CD-79D1-452B-936B-D7B824F9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E2E50-FB81-47AA-A846-7C56E7D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后续扩充夜间、遮挡、侧脸和复杂光照数据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3FAED-33BF-4640-9492-9B88CC0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4ED3D-DD36-4E62-BED5-2E4FF5F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引入连续帧时序模型，提高疲劳状态判断稳定性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B1914-87A1-4B31-9F30-C2B57694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38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E6948-CE00-4AE1-B0AB-DB4AD871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834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进一步优化报警策略和边端部署性能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AA61E-E8F3-4770-9E0B-B9FC00A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591288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2026-05-25T10:59:37.0110000Z</dcterms:created>
  <dcterms:modified xsi:type="dcterms:W3CDTF">2026-05-25T10:59:37.0120000Z</dcterms:modified>
</coreProperties>
</file>