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5efde3b1647d5" /><Relationship Type="http://schemas.openxmlformats.org/officeDocument/2006/relationships/extended-properties" Target="/docProps/app.xml" Id="R0ca4570b15414a7e" /><Relationship Type="http://schemas.openxmlformats.org/officeDocument/2006/relationships/officeDocument" Target="/ppt/presentation.xml" Id="R7ad9d0323b95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71d71caac48ee"/>
  </p:sldMasterIdLst>
  <p:notesMasterIdLst>
    <p:notesMasterId xmlns:r="http://schemas.openxmlformats.org/officeDocument/2006/relationships" r:id="Re34ec41ae18f490d"/>
  </p:notesMasterIdLst>
  <p:sldIdLst>
    <p:sldId xmlns:r="http://schemas.openxmlformats.org/officeDocument/2006/relationships" id="256" r:id="R266b6a22de344c4e"/>
    <p:sldId xmlns:r="http://schemas.openxmlformats.org/officeDocument/2006/relationships" id="257" r:id="R7ccc041547d94f04"/>
    <p:sldId xmlns:r="http://schemas.openxmlformats.org/officeDocument/2006/relationships" id="258" r:id="R8e50a259571c44ba"/>
    <p:sldId xmlns:r="http://schemas.openxmlformats.org/officeDocument/2006/relationships" id="259" r:id="R9f1ef3514c1546b9"/>
    <p:sldId xmlns:r="http://schemas.openxmlformats.org/officeDocument/2006/relationships" id="260" r:id="R0742a0f82ace42a5"/>
    <p:sldId xmlns:r="http://schemas.openxmlformats.org/officeDocument/2006/relationships" id="261" r:id="R5e9038162e9a4ab4"/>
    <p:sldId xmlns:r="http://schemas.openxmlformats.org/officeDocument/2006/relationships" id="262" r:id="Re32203c748ba46fe"/>
    <p:sldId xmlns:r="http://schemas.openxmlformats.org/officeDocument/2006/relationships" id="263" r:id="R0e525120097a46b9"/>
    <p:sldId xmlns:r="http://schemas.openxmlformats.org/officeDocument/2006/relationships" id="264" r:id="R13f0b44e63a44d02"/>
    <p:sldId xmlns:r="http://schemas.openxmlformats.org/officeDocument/2006/relationships" id="265" r:id="Rd56c9af4b72f4b8d"/>
    <p:sldId xmlns:r="http://schemas.openxmlformats.org/officeDocument/2006/relationships" id="266" r:id="R9d0d947b20574bf2"/>
    <p:sldId xmlns:r="http://schemas.openxmlformats.org/officeDocument/2006/relationships" id="267" r:id="Ra92f95ef7124496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71d71caac48ee" /><Relationship Type="http://schemas.openxmlformats.org/officeDocument/2006/relationships/theme" Target="/ppt/theme/theme1.xml" Id="R6cca540d49584d76" /><Relationship Type="http://schemas.openxmlformats.org/officeDocument/2006/relationships/notesMaster" Target="/ppt/notesMasters/notesMaster1.xml" Id="Re34ec41ae18f490d" /><Relationship Type="http://schemas.openxmlformats.org/officeDocument/2006/relationships/presProps" Target="/ppt/presProps.xml" Id="R761d7991f1c7460b" /><Relationship Type="http://schemas.openxmlformats.org/officeDocument/2006/relationships/viewProps" Target="/ppt/viewProps.xml" Id="Reaa5e017c5224905" /><Relationship Type="http://schemas.openxmlformats.org/officeDocument/2006/relationships/tableStyles" Target="/ppt/tableStyles.xml" Id="Rb1b6d251d3c74796" /><Relationship Type="http://schemas.openxmlformats.org/officeDocument/2006/relationships/slide" Target="/ppt/slides/slide1.xml" Id="R266b6a22de344c4e" /><Relationship Type="http://schemas.openxmlformats.org/officeDocument/2006/relationships/slide" Target="/ppt/slides/slide2.xml" Id="R7ccc041547d94f04" /><Relationship Type="http://schemas.openxmlformats.org/officeDocument/2006/relationships/slide" Target="/ppt/slides/slide3.xml" Id="R8e50a259571c44ba" /><Relationship Type="http://schemas.openxmlformats.org/officeDocument/2006/relationships/slide" Target="/ppt/slides/slide4.xml" Id="R9f1ef3514c1546b9" /><Relationship Type="http://schemas.openxmlformats.org/officeDocument/2006/relationships/slide" Target="/ppt/slides/slide5.xml" Id="R0742a0f82ace42a5" /><Relationship Type="http://schemas.openxmlformats.org/officeDocument/2006/relationships/slide" Target="/ppt/slides/slide6.xml" Id="R5e9038162e9a4ab4" /><Relationship Type="http://schemas.openxmlformats.org/officeDocument/2006/relationships/slide" Target="/ppt/slides/slide7.xml" Id="Re32203c748ba46fe" /><Relationship Type="http://schemas.openxmlformats.org/officeDocument/2006/relationships/slide" Target="/ppt/slides/slide8.xml" Id="R0e525120097a46b9" /><Relationship Type="http://schemas.openxmlformats.org/officeDocument/2006/relationships/slide" Target="/ppt/slides/slide9.xml" Id="R13f0b44e63a44d02" /><Relationship Type="http://schemas.openxmlformats.org/officeDocument/2006/relationships/slide" Target="/ppt/slides/slide10.xml" Id="Rd56c9af4b72f4b8d" /><Relationship Type="http://schemas.openxmlformats.org/officeDocument/2006/relationships/slide" Target="/ppt/slides/slide11.xml" Id="R9d0d947b20574bf2" /><Relationship Type="http://schemas.openxmlformats.org/officeDocument/2006/relationships/slide" Target="/ppt/slides/slide12.xml" Id="Ra92f95ef7124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c177cffa31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d3a2a4de743c5" /><Relationship Type="http://schemas.openxmlformats.org/officeDocument/2006/relationships/notesMaster" Target="/ppt/notesMasters/notesMaster1.xml" Id="R3a3f1759b09641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3fd7981e34f2c" /><Relationship Type="http://schemas.openxmlformats.org/officeDocument/2006/relationships/notesMaster" Target="/ppt/notesMasters/notesMaster1.xml" Id="Re65dd8e3198a46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ea420fcb4a446b" /><Relationship Type="http://schemas.openxmlformats.org/officeDocument/2006/relationships/notesMaster" Target="/ppt/notesMasters/notesMaster1.xml" Id="R06305049668f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8683ca8b554982" /><Relationship Type="http://schemas.openxmlformats.org/officeDocument/2006/relationships/notesMaster" Target="/ppt/notesMasters/notesMaster1.xml" Id="R7d1876f3a5e9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b1a4309e524e82" /><Relationship Type="http://schemas.openxmlformats.org/officeDocument/2006/relationships/notesMaster" Target="/ppt/notesMasters/notesMaster1.xml" Id="Re4259d1fd6444c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0ee1a491c4c27" /><Relationship Type="http://schemas.openxmlformats.org/officeDocument/2006/relationships/notesMaster" Target="/ppt/notesMasters/notesMaster1.xml" Id="R829ae133cd7742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40ad8a48fd4de6" /><Relationship Type="http://schemas.openxmlformats.org/officeDocument/2006/relationships/notesMaster" Target="/ppt/notesMasters/notesMaster1.xml" Id="Rb304cb0d153d40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b64cf138ed4d93" /><Relationship Type="http://schemas.openxmlformats.org/officeDocument/2006/relationships/notesMaster" Target="/ppt/notesMasters/notesMaster1.xml" Id="R3c8e3dac4300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c7f079b48b4ad5" /><Relationship Type="http://schemas.openxmlformats.org/officeDocument/2006/relationships/notesMaster" Target="/ppt/notesMasters/notesMaster1.xml" Id="R1826a54a066143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a0c541f6e344d6" /><Relationship Type="http://schemas.openxmlformats.org/officeDocument/2006/relationships/notesMaster" Target="/ppt/notesMasters/notesMaster1.xml" Id="R6af4bcd5bc3d49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5030422434dbb" /><Relationship Type="http://schemas.openxmlformats.org/officeDocument/2006/relationships/notesMaster" Target="/ppt/notesMasters/notesMaster1.xml" Id="R1eeab8d9d6e74c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4b345cfa70478f" /><Relationship Type="http://schemas.openxmlformats.org/officeDocument/2006/relationships/notesMaster" Target="/ppt/notesMasters/notesMaster1.xml" Id="R5bcd231ab4a142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97330e68843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67072811914eed" /><Relationship Type="http://schemas.openxmlformats.org/officeDocument/2006/relationships/slideLayout" Target="/ppt/slideLayouts/slideLayout2.xml" Id="Ra14b39c032dd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b39c032dd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40152232be48b1" /><Relationship Type="http://schemas.openxmlformats.org/officeDocument/2006/relationships/image" Target="/ppt/media/image.jpeg" Id="Rad98043aa19944cd" /><Relationship Type="http://schemas.openxmlformats.org/officeDocument/2006/relationships/notesSlide" Target="/ppt/notesSlides/notesSlide1.xml" Id="Rf529c2f4f4264c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2bcfbe85b4a3c" /><Relationship Type="http://schemas.openxmlformats.org/officeDocument/2006/relationships/notesSlide" Target="/ppt/notesSlides/notesSlide2.xml" Id="Re6b92055f93a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987b1396346b0" /><Relationship Type="http://schemas.openxmlformats.org/officeDocument/2006/relationships/image" Target="/ppt/media/image2.jpeg" Id="R3ec3d4b07a014fdb" /><Relationship Type="http://schemas.openxmlformats.org/officeDocument/2006/relationships/notesSlide" Target="/ppt/notesSlides/notesSlide3.xml" Id="Red42d22233854e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81902e93f470e" /><Relationship Type="http://schemas.openxmlformats.org/officeDocument/2006/relationships/notesSlide" Target="/ppt/notesSlides/notesSlide4.xml" Id="R8376087aaa32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c269741341478b" /><Relationship Type="http://schemas.openxmlformats.org/officeDocument/2006/relationships/notesSlide" Target="/ppt/notesSlides/notesSlide5.xml" Id="R89568bfc40f743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57397de7d4e12" /><Relationship Type="http://schemas.openxmlformats.org/officeDocument/2006/relationships/notesSlide" Target="/ppt/notesSlides/notesSlide6.xml" Id="R86d6e4e2254142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161b95975445c" /><Relationship Type="http://schemas.openxmlformats.org/officeDocument/2006/relationships/notesSlide" Target="/ppt/notesSlides/notesSlide7.xml" Id="Rd18299a80277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86c35f03a849b7" /><Relationship Type="http://schemas.openxmlformats.org/officeDocument/2006/relationships/chart" Target="/ppt/slides/charts/chart1.xml" Id="R32d10bdc03a64bfd" /><Relationship Type="http://schemas.openxmlformats.org/officeDocument/2006/relationships/notesSlide" Target="/ppt/notesSlides/notesSlide8.xml" Id="R72680c6fd4ef49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d21d643f64dfe" /><Relationship Type="http://schemas.openxmlformats.org/officeDocument/2006/relationships/chart" Target="/ppt/slides/charts/chart2.xml" Id="Rfc15f80758394096" /><Relationship Type="http://schemas.openxmlformats.org/officeDocument/2006/relationships/notesSlide" Target="/ppt/notesSlides/notesSlide9.xml" Id="Rc9877d06d82448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5176c5c7841b7" /><Relationship Type="http://schemas.openxmlformats.org/officeDocument/2006/relationships/image" Target="/ppt/media/image3.jpeg" Id="R3f93e3884f444f11" /><Relationship Type="http://schemas.openxmlformats.org/officeDocument/2006/relationships/image" Target="/ppt/media/image4.jpeg" Id="R7a367bc70a0949b2" /><Relationship Type="http://schemas.openxmlformats.org/officeDocument/2006/relationships/notesSlide" Target="/ppt/notesSlides/notesSlide10.xml" Id="Reab649b8209a40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9230738d74629" /><Relationship Type="http://schemas.openxmlformats.org/officeDocument/2006/relationships/notesSlide" Target="/ppt/notesSlides/notesSlide11.xml" Id="Ra89ab7dc498545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08bdb418d74180" /><Relationship Type="http://schemas.openxmlformats.org/officeDocument/2006/relationships/notesSlide" Target="/ppt/notesSlides/notesSlide12.xml" Id="R502f3cc1ad5a42d8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YOLOv8n</c:v>
          </c:tx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/>
              <c:ptCount val="4"/>
              <c:pt idx="0">
                <c:v>0.6868</c:v>
              </c:pt>
              <c:pt idx="1">
                <c:v>0.9114</c:v>
              </c:pt>
              <c:pt idx="2">
                <c:v>0.8347</c:v>
              </c:pt>
              <c:pt idx="3">
                <c:v>0.5368</c:v>
              </c:pt>
            </c:numLit>
          </c:val>
        </c:ser>
        <c:ser>
          <c:idx val="1"/>
          <c:order val="1"/>
          <c:tx>
            <c:v>YOLOv8n+CBAM</c:v>
          </c:tx>
          <c:cat>
            <c:strLit>
              <c:ptCount val="4"/>
              <c:pt idx="0">
                <c:v>Precision</c:v>
              </c:pt>
              <c:pt idx="1">
                <c:v>Recall</c:v>
              </c:pt>
              <c:pt idx="2">
                <c:v>mAP50</c:v>
              </c:pt>
              <c:pt idx="3">
                <c:v>mAP50-95</c:v>
              </c:pt>
            </c:strLit>
          </c:cat>
          <c:val>
            <c:numLit>
              <c:formatCode/>
              <c:ptCount val="4"/>
              <c:pt idx="0">
                <c:v>0.684</c:v>
              </c:pt>
              <c:pt idx="1">
                <c:v>0.937</c:v>
              </c:pt>
              <c:pt idx="2">
                <c:v>0.858</c:v>
              </c:pt>
              <c:pt idx="3">
                <c:v>0.547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YOLOv8n</c:v>
          </c:tx>
          <c:cat>
            <c:strLit>
              <c:ptCount val="3"/>
              <c:pt idx="0">
                <c:v>Eyeclosed</c:v>
              </c:pt>
              <c:pt idx="1">
                <c:v>Eyeopen</c:v>
              </c:pt>
              <c:pt idx="2">
                <c:v>Yawn</c:v>
              </c:pt>
            </c:strLit>
          </c:cat>
          <c:val>
            <c:numLit>
              <c:formatCode/>
              <c:ptCount val="3"/>
              <c:pt idx="0">
                <c:v>0.968</c:v>
              </c:pt>
              <c:pt idx="1">
                <c:v>0.849</c:v>
              </c:pt>
              <c:pt idx="2">
                <c:v>0.693</c:v>
              </c:pt>
            </c:numLit>
          </c:val>
        </c:ser>
        <c:ser>
          <c:idx val="1"/>
          <c:order val="1"/>
          <c:tx>
            <c:v>YOLOv8n+CBAM</c:v>
          </c:tx>
          <c:cat>
            <c:strLit>
              <c:ptCount val="3"/>
              <c:pt idx="0">
                <c:v>Eyeclosed</c:v>
              </c:pt>
              <c:pt idx="1">
                <c:v>Eyeopen</c:v>
              </c:pt>
              <c:pt idx="2">
                <c:v>Yawn</c:v>
              </c:pt>
            </c:strLit>
          </c:cat>
          <c:val>
            <c:numLit>
              <c:formatCode/>
              <c:ptCount val="3"/>
              <c:pt idx="0">
                <c:v>0.973</c:v>
              </c:pt>
              <c:pt idx="1">
                <c:v>0.839</c:v>
              </c:pt>
              <c:pt idx="2">
                <c:v>0.762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058B5-8CB3-4F10-9682-35CDE0C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75E5A"/>
                </a:solidFill>
              </a:defRPr>
            </a:pPr>
            <a:r>
              <a:rPr sz="2100">
                <a:solidFill>
                  <a:srgbClr val="075E5A"/>
                </a:solidFill>
              </a:rPr>
              <a:t>毕业设计答辩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670B99-B317-498A-ABE7-4C8B5927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85725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12B"/>
                </a:solidFill>
              </a:defRPr>
            </a:pPr>
            <a:r>
              <a:rPr sz="5100" b="1">
                <a:solidFill>
                  <a:srgbClr val="17212B"/>
                </a:solidFill>
              </a:rPr>
              <a:t>基于 YOLOv8 与注意力机制的疲劳驾驶面部识别系统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249235FD-EF76-4CAA-BFEB-A782742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B"/>
          </a:solidFill>
          <a:ln xmlns:a="http://schemas.openxmlformats.org/drawingml/2006/main" w="0">
            <a:solidFill>
              <a:srgbClr val="C986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5D6D9-A3AB-4763-B58E-D216357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7067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775"/>
                </a:solidFill>
              </a:defRPr>
            </a:pPr>
            <a:r>
              <a:rPr sz="2250">
                <a:solidFill>
                  <a:srgbClr val="5B6775"/>
                </a:solidFill>
              </a:rPr>
              <a:t>从疲劳特征检测到桌面实时演示，完成基线模型与 CBAM 注意力模型对比验证。</a:t>
            </a:r>
          </a:p>
        </p:txBody>
      </p:sp>
      <p:sp>
        <p:nvSpPr>
          <p:cNvPr id="5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2BB8D635-8B5A-49B9-8CFC-B301E65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358" y="685800"/>
            <a:ext cx="7308342" cy="8420100"/>
          </a:xfrm>
          <a:prstGeom xmlns:a="http://schemas.openxmlformats.org/drawingml/2006/main" prst="roundRect">
            <a:avLst>
              <a:gd name="adj" fmla="val 1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6C166-DB02-4A79-A0EE-5D592F6C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5800"/>
            <a:ext cx="7315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5"/>
                </a:solidFill>
              </a:defRPr>
            </a:pPr>
            <a:r>
              <a:rPr sz="1350">
                <a:solidFill>
                  <a:srgbClr val="5B6775"/>
                </a:solidFill>
              </a:rPr>
              <a:t>系统演示截图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5A9F5483-E2BF-4806-9FA9-3AB0374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1070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775"/>
                </a:solidFill>
              </a:defRPr>
            </a:pPr>
            <a:r>
              <a:rPr sz="1500">
                <a:solidFill>
                  <a:srgbClr val="5B6775"/>
                </a:solidFill>
              </a:rPr>
              <a:t>学生：________    指导教师：________    2026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8043aa19944cd"/>
          <a:srcRect xmlns:a="http://schemas.openxmlformats.org/drawingml/2006/main" l="14942" t="0" r="149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3600" y="685800"/>
            <a:ext cx="7658100" cy="819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33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745F60-ABAB-45F3-80C1-43278F56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研究背景与目标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E04E7C-194A-4487-88DC-7E69C7D4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面向驾驶场景，以视觉方式识别闭眼、睁眼和打哈欠等疲劳相关面部特征。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06A09-1E61-47C4-8F3A-B441C33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811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5E5A"/>
                </a:solidFill>
              </a:defRPr>
            </a:pPr>
            <a:r>
              <a:rPr sz="3000" b="1">
                <a:solidFill>
                  <a:srgbClr val="075E5A"/>
                </a:solidFill>
              </a:rPr>
              <a:t>为什么要做</a:t>
            </a:r>
          </a:p>
        </p:txBody>
      </p:sp>
      <p:sp>
        <p:nvSpPr>
          <p:cNvPr id="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6E51510-F041-40E3-A08F-4E491B27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C1EAF00-9E43-4EBC-96E6-2BBE40FE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疲劳驾驶具有隐蔽性，驾驶员主观感知往往滞后。</a:t>
            </a:r>
          </a:p>
        </p:txBody>
      </p:sp>
      <p:sp>
        <p:nvSpPr>
          <p:cNvPr id="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6F80E00-604C-4F52-AE6A-695D597A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ABEB35F-0C10-4094-B0FB-7C02D03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视觉检测非接触、成本低，适合普通摄像头和车载终端部署。</a:t>
            </a:r>
          </a:p>
        </p:txBody>
      </p:sp>
      <p:sp>
        <p:nvSpPr>
          <p:cNvPr id="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F3B4019-D12F-4429-8E06-76A16DD5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23D72AAA-0073-4F06-9E1C-F385F692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眼部与嘴部状态能够为疲劳判断提供直观、可解释的依据。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A4FB6-E61E-48B9-94CA-85DA2A6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811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9862B"/>
                </a:solidFill>
              </a:defRPr>
            </a:pPr>
            <a:r>
              <a:rPr sz="3000" b="1">
                <a:solidFill>
                  <a:srgbClr val="C9862B"/>
                </a:solidFill>
              </a:rPr>
              <a:t>本系统交付目标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77F749A-6F8D-45EB-A8BE-E6BEB63E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389A207C-0A29-4A6E-B742-CAA731D5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训练 YOLOv8n 基线模型，并构建 YOLOv8n + CBAM 改进模型。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A995D134-61E6-48EA-9F32-88EE6EDF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4191CAC-8C02-4CC7-B12E-8A904BAC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完成图片、视频、摄像头三类输入的推理闭环。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8840083-C4A3-4B6F-A842-63E3C1F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A1191AF-9441-449F-958F-54DA293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052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实现 PyQt5 桌面演示系统，支持截图、日志与疲劳状态提示。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70336A74-0A24-4C1B-90A8-D655E80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</a:defRPr>
            </a:pPr>
            <a:r>
              <a:rPr sz="1125">
                <a:solidFill>
                  <a:srgbClr val="71808C"/>
                </a:solidFill>
              </a:rPr>
              <a:t>研究对象：疲劳驾驶场景下的面部状态识别</a:t>
            </a:r>
          </a:p>
        </p:txBody>
      </p:sp>
    </p:spTree>
    <p:extLst>
      <p:ext uri="{BB962C8B-B14F-4D97-AF65-F5344CB8AC3E}">
        <p14:creationId xmlns:p14="http://schemas.microsoft.com/office/powerpoint/2010/main" val="2632405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F06623-8018-4BE1-87F0-7D73AE6A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数据集与类别设计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EE1F9B-6503-485C-89F7-60A7BFDD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7715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Roboflow Driver_Drowsiness_YOLO 数据集，采用 YOLOv8 标准检测格式。</a:t>
            </a:r>
          </a:p>
        </p:txBody>
      </p:sp>
      <p:sp>
        <p:nvSpPr>
          <p:cNvPr id="3" name="metric-训练集图片">
            <a:extLst xmlns:a="http://schemas.openxmlformats.org/drawingml/2006/main">
              <a:ext uri="{FF2B5EF4-FFF2-40B4-BE49-F238E27FC236}">
                <a16:creationId xmlns:a16="http://schemas.microsoft.com/office/drawing/2014/main" id="{C414AD16-181F-44EA-B61B-DB2E5098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31171-9DE3-44E2-8547-B5FA42D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7C78"/>
                </a:solidFill>
              </a:defRPr>
            </a:pPr>
            <a:r>
              <a:rPr sz="3450" b="1">
                <a:solidFill>
                  <a:srgbClr val="0E7C78"/>
                </a:solidFill>
              </a:rPr>
              <a:t>3790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0AB02-B130-47A0-970F-C0E6F3A2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训练集图片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F17AF-6783-4FBF-A25B-976D854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train/images 与 train/labels</a:t>
            </a:r>
          </a:p>
        </p:txBody>
      </p:sp>
      <p:sp>
        <p:nvSpPr>
          <p:cNvPr id="7" name="metric-验证集图片">
            <a:extLst xmlns:a="http://schemas.openxmlformats.org/drawingml/2006/main">
              <a:ext uri="{FF2B5EF4-FFF2-40B4-BE49-F238E27FC236}">
                <a16:creationId xmlns:a16="http://schemas.microsoft.com/office/drawing/2014/main" id="{16177A24-EFF0-4468-90A0-FA7C7A6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21526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C3581-E03A-4AA9-880C-92AC8B4F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E5C9A"/>
                </a:solidFill>
              </a:defRPr>
            </a:pPr>
            <a:r>
              <a:rPr sz="3450" b="1">
                <a:solidFill>
                  <a:srgbClr val="2E5C9A"/>
                </a:solidFill>
              </a:rPr>
              <a:t>542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00FFF-B713-4336-A2C1-C61AE109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验证集图片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12E9-D70B-4590-AC8E-A44B0C2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valid/images 与 valid/labels</a:t>
            </a:r>
          </a:p>
        </p:txBody>
      </p:sp>
      <p:sp>
        <p:nvSpPr>
          <p:cNvPr id="11" name="metric-测试集图片">
            <a:extLst xmlns:a="http://schemas.openxmlformats.org/drawingml/2006/main">
              <a:ext uri="{FF2B5EF4-FFF2-40B4-BE49-F238E27FC236}">
                <a16:creationId xmlns:a16="http://schemas.microsoft.com/office/drawing/2014/main" id="{3D893531-36D4-4245-80A5-EAACD857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526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0484F-A6AD-4FC7-B028-1111FCBB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9862B"/>
                </a:solidFill>
              </a:defRPr>
            </a:pPr>
            <a:r>
              <a:rPr sz="3450" b="1">
                <a:solidFill>
                  <a:srgbClr val="C9862B"/>
                </a:solidFill>
              </a:rPr>
              <a:t>1081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18FA1-C766-4880-9288-A4A5B8C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测试集图片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86038-3F28-472F-8919-5E52B05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test/images 与 test/labels</a:t>
            </a:r>
          </a:p>
        </p:txBody>
      </p:sp>
      <p:sp>
        <p:nvSpPr>
          <p:cNvPr id="15" name="metric-检测类别">
            <a:extLst xmlns:a="http://schemas.openxmlformats.org/drawingml/2006/main">
              <a:ext uri="{FF2B5EF4-FFF2-40B4-BE49-F238E27FC236}">
                <a16:creationId xmlns:a16="http://schemas.microsoft.com/office/drawing/2014/main" id="{21E07896-5777-4C43-92BB-DED4316F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21526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783C8-39C2-4398-8C81-541DC2C3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3812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5403A"/>
                </a:solidFill>
              </a:defRPr>
            </a:pPr>
            <a:r>
              <a:rPr sz="3450" b="1">
                <a:solidFill>
                  <a:srgbClr val="B5403A"/>
                </a:solidFill>
              </a:rPr>
              <a:t>3 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ACEC3-2B7C-41EE-A983-A440B947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9146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检测类别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E457A-1782-4539-B8E0-25F593B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2385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Eyeclosed / Eyeopen / Yawn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164C3-78BB-4885-B631-06EDE665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8134350" cy="49530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8C9EA-8AFE-4C82-B269-85EE22B9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813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5"/>
                </a:solidFill>
              </a:defRPr>
            </a:pPr>
            <a:r>
              <a:rPr sz="1350">
                <a:solidFill>
                  <a:srgbClr val="5B6775"/>
                </a:solidFill>
              </a:rPr>
              <a:t>单图检测样例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36623-8F80-49B3-BE71-6D235D2B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813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类别含义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2806AF6-552F-4F04-93EE-7ADB812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197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2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D7A25A5-69B2-4BB1-8F5A-CA11320C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Eyeclosed：闭眼，是疲劳状态的重要短时特征。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31F3F53-B6AB-4294-BEF3-D1DD1A05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769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2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E50F815-9E36-48DD-805D-3AFC6D7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769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Eyeopen：睁眼，用于区分正常观察状态。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B87412C-5B13-4DDC-AEF2-3B4E9B0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1341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2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075CA35-CE52-45BA-967F-FC67582D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34100"/>
            <a:ext cx="771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Yawn：打哈欠，对疲劳程度判断有较强提示作用。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3d4b07a014fdb"/>
          <a:stretch xmlns:a="http://schemas.openxmlformats.org/drawingml/2006/main"/>
        </p:blipFill>
        <p:spPr>
          <a:xfrm xmlns:a="http://schemas.openxmlformats.org/drawingml/2006/main">
            <a:off x="3348038" y="4152900"/>
            <a:ext cx="3000375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286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741285-5BF8-4B1B-A128-5A6605FB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系统总体架构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202362-9CB5-4769-A76B-D6B772B2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5943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围绕训练、推理和演示三个环节形成最小可运行闭环。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561E-0C97-4A80-BB18-00E575DC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1BD12-AA77-4714-9C66-034A8F4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6DD7D-7791-493A-B85C-D2A2B2B1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28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图片/视频/摄像头输入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DE5AD-B8A0-4436-B5F6-EB5B5049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375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BBC29-5610-4F7D-9480-30E05F70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22F15-DF40-43FE-90CA-EF5D668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86050"/>
            <a:ext cx="228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OpenCV 读取与预处理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11518-EFAD-4D0D-8002-8913B159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4E93A-5641-4E3C-A592-16B946B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B5E3-F481-462A-91C8-A60EB9D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YOLOv8 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FAEE3-0D52-4F06-8FD0-85A1FE0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AC8DB-B846-4EA9-8C60-5A114A5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4A45D-1E7B-43DB-B0C3-59F3B02C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疲劳特征提取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D8A96-FFE1-44DE-9689-06E101F1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00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E4702-C98A-4D7E-9039-98B8DDD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11F1F-77AC-4C53-ADFA-768F26D3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8605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状态判断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FFB30-47D6-484B-9045-D73F21E3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075" y="2000250"/>
            <a:ext cx="2625725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5F3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1EEAB-B5E3-4BE4-83A9-0958BB8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2098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61BD6-BAEB-4F64-BA18-16DC90B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268605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界面显示/截图/日志</a:t>
            </a:r>
          </a:p>
        </p:txBody>
      </p:sp>
      <p:sp>
        <p:nvSpPr>
          <p:cNvPr id="21" name="metric-训练入口">
            <a:extLst xmlns:a="http://schemas.openxmlformats.org/drawingml/2006/main">
              <a:ext uri="{FF2B5EF4-FFF2-40B4-BE49-F238E27FC236}">
                <a16:creationId xmlns:a16="http://schemas.microsoft.com/office/drawing/2014/main" id="{1309D082-E565-4E8C-82AF-82F72B0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42A13-A34B-4180-AA0F-4DE8C2EF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7C78"/>
                </a:solidFill>
              </a:defRPr>
            </a:pPr>
            <a:r>
              <a:rPr sz="3450" b="1">
                <a:solidFill>
                  <a:srgbClr val="0E7C78"/>
                </a:solidFill>
              </a:rPr>
              <a:t>train_yolo.py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B408E-1B8E-4AB8-B14B-CFA8D4B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训练入口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2EDE9-9603-4609-B43F-6ABF7F6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817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Slurm GPU 节点训练</a:t>
            </a:r>
          </a:p>
        </p:txBody>
      </p:sp>
      <p:sp>
        <p:nvSpPr>
          <p:cNvPr id="25" name="metric-推理入口">
            <a:extLst xmlns:a="http://schemas.openxmlformats.org/drawingml/2006/main">
              <a:ext uri="{FF2B5EF4-FFF2-40B4-BE49-F238E27FC236}">
                <a16:creationId xmlns:a16="http://schemas.microsoft.com/office/drawing/2014/main" id="{59EC15C2-E39C-4E40-B071-D0E6053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48958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21E89-F299-4B6F-8AC5-854933B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244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E5C9A"/>
                </a:solidFill>
              </a:defRPr>
            </a:pPr>
            <a:r>
              <a:rPr sz="3450" b="1">
                <a:solidFill>
                  <a:srgbClr val="2E5C9A"/>
                </a:solidFill>
              </a:rPr>
              <a:t>run_infer.py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6797A-E112-4361-B687-27137FA8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578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推理入口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5B7A6-DE2A-47E1-A854-7761069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817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图片/视频/摄像头</a:t>
            </a:r>
          </a:p>
        </p:txBody>
      </p:sp>
      <p:sp>
        <p:nvSpPr>
          <p:cNvPr id="29" name="metric-桌面界面">
            <a:extLst xmlns:a="http://schemas.openxmlformats.org/drawingml/2006/main">
              <a:ext uri="{FF2B5EF4-FFF2-40B4-BE49-F238E27FC236}">
                <a16:creationId xmlns:a16="http://schemas.microsoft.com/office/drawing/2014/main" id="{1FE772AD-A716-46D6-AA32-34C15A9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958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30330-C29B-48FC-84E3-A0499FC2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244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9862B"/>
                </a:solidFill>
              </a:defRPr>
            </a:pPr>
            <a:r>
              <a:rPr sz="3450" b="1">
                <a:solidFill>
                  <a:srgbClr val="C9862B"/>
                </a:solidFill>
              </a:rPr>
              <a:t>main_window.py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0AE85-C0E7-4CB0-9F58-63264500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桌面界面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EE7A87-C747-4E49-A42A-3F0AEEE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817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PyQt5 实时演示</a:t>
            </a:r>
          </a:p>
        </p:txBody>
      </p:sp>
      <p:sp>
        <p:nvSpPr>
          <p:cNvPr id="33" name="metric-状态规则">
            <a:extLst xmlns:a="http://schemas.openxmlformats.org/drawingml/2006/main">
              <a:ext uri="{FF2B5EF4-FFF2-40B4-BE49-F238E27FC236}">
                <a16:creationId xmlns:a16="http://schemas.microsoft.com/office/drawing/2014/main" id="{7EAEAD00-6CA9-4304-8C4A-C78F65B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4895850"/>
            <a:ext cx="3995738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9A56AD-BCF4-4F1E-B121-8CD9E82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124450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5403A"/>
                </a:solidFill>
              </a:defRPr>
            </a:pPr>
            <a:r>
              <a:rPr sz="3450" b="1">
                <a:solidFill>
                  <a:srgbClr val="B5403A"/>
                </a:solidFill>
              </a:rPr>
              <a:t>fatigue_rules.py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F5FFC-1646-4E91-B2A2-CD410ED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657850"/>
            <a:ext cx="3467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状态规则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5587A-E7AA-40E8-9908-7DC26BA2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981700"/>
            <a:ext cx="3467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滑动窗口判断</a:t>
            </a:r>
          </a:p>
        </p:txBody>
      </p:sp>
    </p:spTree>
    <p:extLst>
      <p:ext uri="{BB962C8B-B14F-4D97-AF65-F5344CB8AC3E}">
        <p14:creationId xmlns:p14="http://schemas.microsoft.com/office/powerpoint/2010/main" val="181616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6E8410-FF08-4094-A0AD-57986E0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基线模型：YOLOv8n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A936D2-1CCB-4085-99AB-56087973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选择轻量检测模型作为实时疲劳特征识别基线。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262E-EC19-4415-8231-FA13D8D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115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75E5A"/>
                </a:solidFill>
              </a:defRPr>
            </a:pPr>
            <a:r>
              <a:rPr sz="3000" b="1">
                <a:solidFill>
                  <a:srgbClr val="075E5A"/>
                </a:solidFill>
              </a:rPr>
              <a:t>模型选择原因</a:t>
            </a:r>
          </a:p>
        </p:txBody>
      </p:sp>
      <p:sp>
        <p:nvSpPr>
          <p:cNvPr id="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88BF3CE-B433-4319-8670-5BA6BE1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3433000-07A1-4840-AF3B-7E0F46AA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参数量小、速度快，适合桌面演示和边缘部署验证。</a:t>
            </a:r>
          </a:p>
        </p:txBody>
      </p:sp>
      <p:sp>
        <p:nvSpPr>
          <p:cNvPr id="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1252E4D-A6E8-440B-A116-4A19C607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AA925EC-B9E3-494E-A605-E3F6AE7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检测头可直接输出目标框、类别与置信度。</a:t>
            </a:r>
          </a:p>
        </p:txBody>
      </p:sp>
      <p:sp>
        <p:nvSpPr>
          <p:cNvPr id="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16A4BAA1-DDB0-4BD6-A91E-2CD686A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4DBE6E7-6119-4818-A9BB-F9C6C89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Ultralytics 生态成熟，训练、验证和 ONNX 导出流程稳定。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41226-0C92-4CDC-A8DB-AC555ACA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8115300" cy="7658100"/>
          </a:xfrm>
          <a:prstGeom xmlns:a="http://schemas.openxmlformats.org/drawingml/2006/main" prst="roundRect">
            <a:avLst>
              <a:gd name="adj" fmla="val 1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7059B-49A5-45F6-A2E1-6DE6B505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05050"/>
            <a:ext cx="7315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训练设置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B4B663E-B7F6-45E2-A2BB-C9FF799D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C7CF9D5-32AE-4BE4-BB33-E5B474C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9560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模型：yolov8n.pt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81BAFF2B-79C6-4418-A9C6-99E93EF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F8F90F7-2399-4756-AD8B-45C8DA3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3375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输入尺寸：640 × 640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7C958696-AC19-4696-AC24-07A3C53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528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FD48BB8-2F9D-4CA4-8283-494E53B7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5285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epoch：50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6CA4F717-5DB8-4362-AD81-AF9625B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910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9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68BFB142-F4DD-4BEE-9C1A-4D969AEE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9100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batch size：16</a:t>
            </a:r>
          </a:p>
        </p:txBody>
      </p:sp>
      <p:sp>
        <p:nvSpPr>
          <p:cNvPr id="20" name="bullet-dot-5">
            <a:extLst xmlns:a="http://schemas.openxmlformats.org/drawingml/2006/main">
              <a:ext uri="{FF2B5EF4-FFF2-40B4-BE49-F238E27FC236}">
                <a16:creationId xmlns:a16="http://schemas.microsoft.com/office/drawing/2014/main" id="{35757BBD-B802-4844-9147-3F756C28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101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21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BF2A0684-5EDD-48A9-84E5-E4571EB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010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优化器：AdamW，学习率余弦调度</a:t>
            </a:r>
          </a:p>
        </p:txBody>
      </p:sp>
      <p:sp>
        <p:nvSpPr>
          <p:cNvPr id="22" name="bullet-dot-6">
            <a:extLst xmlns:a="http://schemas.openxmlformats.org/drawingml/2006/main">
              <a:ext uri="{FF2B5EF4-FFF2-40B4-BE49-F238E27FC236}">
                <a16:creationId xmlns:a16="http://schemas.microsoft.com/office/drawing/2014/main" id="{E9B623DF-F153-4168-9880-E7BC05E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23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35857F72-6294-4204-A3A9-B69CC04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48250"/>
            <a:ext cx="689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数据增强：Mosaic、MixUp、HSV 扰动</a:t>
            </a:r>
          </a:p>
        </p:txBody>
      </p:sp>
    </p:spTree>
    <p:extLst>
      <p:ext uri="{BB962C8B-B14F-4D97-AF65-F5344CB8AC3E}">
        <p14:creationId xmlns:p14="http://schemas.microsoft.com/office/powerpoint/2010/main" val="1310388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10B2AD-ED41-4437-853F-187A0CFE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改进模型：YOLOv8n + CBAM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A42446-FC4E-4AD5-B30D-DE3FAE8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6934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在高层语义特征进入检测头前强化眼部、嘴部等局部疲劳特征。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E0E68-3A40-46AA-8D5F-03CD3156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315468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EB901-3D05-42D7-9F1C-8AD65EE9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87607-6892-4526-BB23-BF8DE5F4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输入特征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307D9-FBB5-4D4E-A4A3-91C4D97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1943100"/>
            <a:ext cx="315468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F9D56-E6FC-4C12-B9B0-FA2F56DF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5403A"/>
                </a:solidFill>
              </a:defRPr>
            </a:pPr>
            <a:r>
              <a:rPr sz="2550" b="1">
                <a:solidFill>
                  <a:srgbClr val="B5403A"/>
                </a:solidFill>
              </a:rPr>
              <a:t>CBAM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0E87D-B7B5-4CB0-8975-8782DFCD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通道注意力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C9953-9FD1-4193-AAA9-26B3386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660" y="1943100"/>
            <a:ext cx="315468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BD5D-7A7A-43B3-A4F5-ECC13146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5403A"/>
                </a:solidFill>
              </a:defRPr>
            </a:pPr>
            <a:r>
              <a:rPr sz="2550" b="1">
                <a:solidFill>
                  <a:srgbClr val="B5403A"/>
                </a:solidFill>
              </a:rPr>
              <a:t>CBAM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8BF88-A260-446F-B3AF-C16B3E4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空间注意力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289A1-531A-492F-AD4E-B0923094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890" y="1943100"/>
            <a:ext cx="315468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C5666-727D-463E-A999-3995472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19075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003F2-9F3B-4658-9CBA-4A051DF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860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增强特征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91A50-B4CD-49A2-865F-1914CB60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120" y="1943100"/>
            <a:ext cx="315468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B66E3-8F74-4F13-8866-21C8C97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2190750"/>
            <a:ext cx="270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C78"/>
                </a:solidFill>
              </a:defRPr>
            </a:pPr>
            <a:r>
              <a:rPr sz="2550" b="1">
                <a:solidFill>
                  <a:srgbClr val="0E7C78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FAAAB-2070-4DEE-B7CD-7D282CE3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2686050"/>
            <a:ext cx="2705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检测头输出</a:t>
            </a:r>
          </a:p>
        </p:txBody>
      </p:sp>
      <p:sp>
        <p:nvSpPr>
          <p:cNvPr id="1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50A8B47E-07BB-4B4B-8BC4-DA3BD9A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1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B2C51515-CEC4-4A62-AD37-EA550F6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加入位置：YOLOv8n 主干网络 SPPF 模块之后。</a:t>
            </a:r>
          </a:p>
        </p:txBody>
      </p:sp>
      <p:sp>
        <p:nvSpPr>
          <p:cNvPr id="2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9FD3193-78B9-4F0E-81E2-ED6D4570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2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AD21D25-FF78-4B6B-8A67-31C2499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改进目的：提升模型对闭眼、打哈欠等局部区域的关注能力。</a:t>
            </a:r>
          </a:p>
        </p:txBody>
      </p:sp>
      <p:sp>
        <p:nvSpPr>
          <p:cNvPr id="2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89231A3-151E-4959-A0DA-EE9ADE2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2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85F7DCE-720F-47ED-8825-F9B1118E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参数变化：约 3.006M 增至 3.072M，仍保持轻量级。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001D6-4DF7-43B5-83B8-B597118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811530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302C3-C80E-467D-BEC6-7EC46033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739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9862B"/>
                </a:solidFill>
              </a:defRPr>
            </a:pPr>
            <a:r>
              <a:rPr sz="2700" b="1">
                <a:solidFill>
                  <a:srgbClr val="C9862B"/>
                </a:solidFill>
              </a:rPr>
              <a:t>论文表述重点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EC0C5-B2AE-4496-BE56-D8B66E0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19750"/>
            <a:ext cx="7391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B"/>
                </a:solidFill>
              </a:defRPr>
            </a:pPr>
            <a:r>
              <a:rPr sz="2025">
                <a:solidFill>
                  <a:srgbClr val="17212B"/>
                </a:solidFill>
              </a:rPr>
              <a:t>CBAM 不是为了替换 YOLOv8，而是在保持实时性的前提下，对疲劳相关局部特征进行再加权，从而改善易混淆类别的识别效果。</a:t>
            </a:r>
          </a:p>
        </p:txBody>
      </p:sp>
    </p:spTree>
    <p:extLst>
      <p:ext uri="{BB962C8B-B14F-4D97-AF65-F5344CB8AC3E}">
        <p14:creationId xmlns:p14="http://schemas.microsoft.com/office/powerpoint/2010/main" val="2843934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13AADD-5ADE-45AB-89F1-01D55385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实验环境与复现条件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CAE5FD-18D3-4103-B4DD-65DFEF1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7943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训练在服务器 Slurm GPU 节点完成，本地 Windows 负责推理与桌面演示。</a:t>
            </a:r>
          </a:p>
        </p:txBody>
      </p:sp>
      <p:sp>
        <p:nvSpPr>
          <p:cNvPr id="3" name="metric-GPU">
            <a:extLst xmlns:a="http://schemas.openxmlformats.org/drawingml/2006/main">
              <a:ext uri="{FF2B5EF4-FFF2-40B4-BE49-F238E27FC236}">
                <a16:creationId xmlns:a16="http://schemas.microsoft.com/office/drawing/2014/main" id="{DDD8B2BA-4C1B-4092-8C3A-D80BB183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8172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2ECA8-CD45-465A-B4BD-7B2AC005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7639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7C78"/>
                </a:solidFill>
              </a:defRPr>
            </a:pPr>
            <a:r>
              <a:rPr sz="3450" b="1">
                <a:solidFill>
                  <a:srgbClr val="0E7C78"/>
                </a:solidFill>
              </a:rPr>
              <a:t>Tesla V100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6A61F-9207-4FF5-8EEE-447F5A2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GPU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EA60-9D9C-4D5E-B749-B20947AC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32GB 显存，Slurm plcyf-gpu 分区</a:t>
            </a:r>
          </a:p>
        </p:txBody>
      </p:sp>
      <p:sp>
        <p:nvSpPr>
          <p:cNvPr id="7" name="metric-PyTorch">
            <a:extLst xmlns:a="http://schemas.openxmlformats.org/drawingml/2006/main">
              <a:ext uri="{FF2B5EF4-FFF2-40B4-BE49-F238E27FC236}">
                <a16:creationId xmlns:a16="http://schemas.microsoft.com/office/drawing/2014/main" id="{F72A6AB9-B22A-49D9-8915-950305FC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8172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B4545-C0EF-400C-9A34-C02034AE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7639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E5C9A"/>
                </a:solidFill>
              </a:defRPr>
            </a:pPr>
            <a:r>
              <a:rPr sz="3450" b="1">
                <a:solidFill>
                  <a:srgbClr val="2E5C9A"/>
                </a:solidFill>
              </a:rPr>
              <a:t>2.5.1+cu121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D36D6-8EC1-4DA8-9850-FDD3B42E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PyTorch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43024-FEB3-4BC2-A112-78DEC11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服务器 CUDA 训练环境</a:t>
            </a:r>
          </a:p>
        </p:txBody>
      </p:sp>
      <p:sp>
        <p:nvSpPr>
          <p:cNvPr id="11" name="metric-Ultralytics">
            <a:extLst xmlns:a="http://schemas.openxmlformats.org/drawingml/2006/main">
              <a:ext uri="{FF2B5EF4-FFF2-40B4-BE49-F238E27FC236}">
                <a16:creationId xmlns:a16="http://schemas.microsoft.com/office/drawing/2014/main" id="{7ACFBB10-2DA8-4EFE-B6E5-1435B3FD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6438"/>
            <a:ext cx="8172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1017B-2B17-412A-A32F-C95BD0A4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19800"/>
            <a:ext cx="7639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9862B"/>
                </a:solidFill>
              </a:defRPr>
            </a:pPr>
            <a:r>
              <a:rPr sz="3450" b="1">
                <a:solidFill>
                  <a:srgbClr val="C9862B"/>
                </a:solidFill>
              </a:rPr>
              <a:t>8.4.45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0173-E113-4CEF-8EBA-074C5F66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5532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Ultralytics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D05F2-B1FD-401C-B8A5-73E0BA0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YOLOv8 训练、验证与导出</a:t>
            </a:r>
          </a:p>
        </p:txBody>
      </p:sp>
      <p:sp>
        <p:nvSpPr>
          <p:cNvPr id="15" name="metric-本地演示">
            <a:extLst xmlns:a="http://schemas.openxmlformats.org/drawingml/2006/main">
              <a:ext uri="{FF2B5EF4-FFF2-40B4-BE49-F238E27FC236}">
                <a16:creationId xmlns:a16="http://schemas.microsoft.com/office/drawing/2014/main" id="{91F90192-1A79-4910-BDAD-A922475F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86438"/>
            <a:ext cx="8172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8AFF5-D07C-4635-8EE4-7B1090BB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19800"/>
            <a:ext cx="7639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5403A"/>
                </a:solidFill>
              </a:defRPr>
            </a:pPr>
            <a:r>
              <a:rPr sz="3450" b="1">
                <a:solidFill>
                  <a:srgbClr val="B5403A"/>
                </a:solidFill>
              </a:rPr>
              <a:t>CPU 推理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AFC2B-1839-4F26-9A59-CB9C9D46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5320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本地演示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38EF4-15EA-4611-BF1B-5B020A9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58000"/>
            <a:ext cx="763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PyQt5 + OpenCV 桌面端运行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C603C7AB-D042-42DD-9248-24079F1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</a:defRPr>
            </a:pPr>
            <a:r>
              <a:rPr sz="1125">
                <a:solidFill>
                  <a:srgbClr val="71808C"/>
                </a:solidFill>
              </a:rPr>
              <a:t>服务器账号配置：account=mfk-gsr2，partition=plcyf-gpu，qos=normal</a:t>
            </a:r>
          </a:p>
        </p:txBody>
      </p:sp>
    </p:spTree>
    <p:extLst>
      <p:ext uri="{BB962C8B-B14F-4D97-AF65-F5344CB8AC3E}">
        <p14:creationId xmlns:p14="http://schemas.microsoft.com/office/powerpoint/2010/main" val="15047892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137D89-1BB6-410B-96FB-5CCEFE00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实验结果对比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452649-6976-493D-AA59-FC9F0DB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657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CBAM 版本在召回率、mAP50 和 mAP50-95 上均有小幅提升。</a:t>
            </a:r>
          </a:p>
        </p:txBody>
      </p:sp>
      <p:graphicFrame>
        <p:nvGraphicFramePr>
          <p:cNvPr id="3" name="result-chart"/>
          <p:cNvGraphicFramePr/>
          <p:nvPr/>
        </p:nvGraphicFramePr>
        <p:xfrm>
          <a:off xmlns:a="http://schemas.openxmlformats.org/drawingml/2006/main" x="838200" y="1866900"/>
          <a:ext xmlns:a="http://schemas.openxmlformats.org/drawingml/2006/main" cx="166116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10bdc03a64bfd"/>
          </a:graphicData>
        </a:graphic>
      </p:graphicFrame>
      <p:sp>
        <p:nvSpPr>
          <p:cNvPr id="4" name="metric-mAP50 提升">
            <a:extLst xmlns:a="http://schemas.openxmlformats.org/drawingml/2006/main">
              <a:ext uri="{FF2B5EF4-FFF2-40B4-BE49-F238E27FC236}">
                <a16:creationId xmlns:a16="http://schemas.microsoft.com/office/drawing/2014/main" id="{6C49DE14-A83F-4839-803C-303F3A4C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05650"/>
            <a:ext cx="3981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3D7AE-DF3D-4628-9D41-B41DE1C1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3342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7C78"/>
                </a:solidFill>
              </a:defRPr>
            </a:pPr>
            <a:r>
              <a:rPr sz="3450" b="1">
                <a:solidFill>
                  <a:srgbClr val="0E7C78"/>
                </a:solidFill>
              </a:rPr>
              <a:t>+0.0233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24853-0448-4BE0-8FF3-FD8B5DEB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8676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mAP50 提升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E193-1CBB-4790-B8A7-6AF830D4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191500"/>
            <a:ext cx="344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0.8347 -&gt; 0.8580</a:t>
            </a:r>
          </a:p>
        </p:txBody>
      </p:sp>
      <p:sp>
        <p:nvSpPr>
          <p:cNvPr id="8" name="metric-mAP50-95 提升">
            <a:extLst xmlns:a="http://schemas.openxmlformats.org/drawingml/2006/main">
              <a:ext uri="{FF2B5EF4-FFF2-40B4-BE49-F238E27FC236}">
                <a16:creationId xmlns:a16="http://schemas.microsoft.com/office/drawing/2014/main" id="{5434FB65-2CF8-4E9B-94A9-20AEA56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105650"/>
            <a:ext cx="3981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0D932-CDFB-4330-A2CB-807D2B23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3342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E5C9A"/>
                </a:solidFill>
              </a:defRPr>
            </a:pPr>
            <a:r>
              <a:rPr sz="3450" b="1">
                <a:solidFill>
                  <a:srgbClr val="2E5C9A"/>
                </a:solidFill>
              </a:rPr>
              <a:t>+0.0102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8D5CD-34EC-4F94-B0DB-AAF650AC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8676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mAP50-95 提升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09153-4DC7-4BD9-8982-E263994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191500"/>
            <a:ext cx="344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0.5368 -&gt; 0.5470</a:t>
            </a:r>
          </a:p>
        </p:txBody>
      </p:sp>
      <p:sp>
        <p:nvSpPr>
          <p:cNvPr id="12" name="metric-召回率提升">
            <a:extLst xmlns:a="http://schemas.openxmlformats.org/drawingml/2006/main">
              <a:ext uri="{FF2B5EF4-FFF2-40B4-BE49-F238E27FC236}">
                <a16:creationId xmlns:a16="http://schemas.microsoft.com/office/drawing/2014/main" id="{E6F33BD1-D31F-4ACA-BC77-2CFEED2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05650"/>
            <a:ext cx="3981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66B91-0A0C-4F76-958A-68A78FB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3342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9862B"/>
                </a:solidFill>
              </a:defRPr>
            </a:pPr>
            <a:r>
              <a:rPr sz="3450" b="1">
                <a:solidFill>
                  <a:srgbClr val="C9862B"/>
                </a:solidFill>
              </a:rPr>
              <a:t>+0.0256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3E6B2-A8E2-4FDD-A87B-2C56F4A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8676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召回率提升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14FC-881D-415D-B1E3-CB61399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191500"/>
            <a:ext cx="344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0.9114 -&gt; 0.9370</a:t>
            </a:r>
          </a:p>
        </p:txBody>
      </p:sp>
      <p:sp>
        <p:nvSpPr>
          <p:cNvPr id="16" name="metric-推理耗时">
            <a:extLst xmlns:a="http://schemas.openxmlformats.org/drawingml/2006/main">
              <a:ext uri="{FF2B5EF4-FFF2-40B4-BE49-F238E27FC236}">
                <a16:creationId xmlns:a16="http://schemas.microsoft.com/office/drawing/2014/main" id="{48227CE8-B617-4462-89F6-260B9F66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105650"/>
            <a:ext cx="39814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531F7-784F-4537-A1C3-0613F358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3342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5403A"/>
                </a:solidFill>
              </a:defRPr>
            </a:pPr>
            <a:r>
              <a:rPr sz="3450" b="1">
                <a:solidFill>
                  <a:srgbClr val="B5403A"/>
                </a:solidFill>
              </a:rPr>
              <a:t>1.1ms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8B986-FC33-4188-8410-B7A3011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8676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12B"/>
                </a:solidFill>
              </a:defRPr>
            </a:pPr>
            <a:r>
              <a:rPr sz="1725">
                <a:solidFill>
                  <a:srgbClr val="17212B"/>
                </a:solidFill>
              </a:rPr>
              <a:t>推理耗时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3B43A-4100-465F-8324-F0561E6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8191500"/>
            <a:ext cx="3448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775"/>
                </a:solidFill>
              </a:defRPr>
            </a:pPr>
            <a:r>
              <a:rPr sz="1275">
                <a:solidFill>
                  <a:srgbClr val="5B6775"/>
                </a:solidFill>
              </a:rPr>
              <a:t>CBAM 每图后处理前推理约值</a:t>
            </a:r>
          </a:p>
        </p:txBody>
      </p:sp>
    </p:spTree>
    <p:extLst>
      <p:ext uri="{BB962C8B-B14F-4D97-AF65-F5344CB8AC3E}">
        <p14:creationId xmlns:p14="http://schemas.microsoft.com/office/powerpoint/2010/main" val="805430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672A2-30EA-43A1-A5BF-F8979CA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类别结果分析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5944EC-1255-46AD-806D-65B3D18D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7924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注意力机制对打哈欠类别的改善最明显，符合局部特征增强的设计预期。</a:t>
            </a:r>
          </a:p>
        </p:txBody>
      </p:sp>
      <p:graphicFrame>
        <p:nvGraphicFramePr>
          <p:cNvPr id="3" name="class-map-chart"/>
          <p:cNvGraphicFramePr/>
          <p:nvPr/>
        </p:nvGraphicFramePr>
        <p:xfrm>
          <a:off xmlns:a="http://schemas.openxmlformats.org/drawingml/2006/main" x="838200" y="1905000"/>
          <a:ext xmlns:a="http://schemas.openxmlformats.org/drawingml/2006/main" cx="166116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15f80758394096"/>
          </a:graphicData>
        </a:graphic>
      </p:graphicFrame>
      <p:sp>
        <p:nvSpPr>
          <p:cNvPr id="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C7954212-3772-40AA-AE82-AEE54265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008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6E8074B-7402-4F7D-B5BB-8E1E726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800850"/>
            <a:ext cx="1619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Eyeclosed 类别保持最高识别效果，CBAM 后 mAP50 约 0.973。</a:t>
            </a:r>
          </a:p>
        </p:txBody>
      </p:sp>
      <p:sp>
        <p:nvSpPr>
          <p:cNvPr id="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D861F8F-52D1-4241-995C-4CE2E1F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B7C2DFE-D49F-44D6-8929-216F1EAB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1619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Yawn 类别从约 0.693 提升到 0.762，说明嘴部局部特征增强有效。</a:t>
            </a:r>
          </a:p>
        </p:txBody>
      </p:sp>
      <p:sp>
        <p:nvSpPr>
          <p:cNvPr id="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D509C0C-3ECE-4FAC-82B1-6B8110BB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581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D6FCE4F-E560-4C0D-AB72-62A5B49F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58100"/>
            <a:ext cx="1619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Eyeopen 轻微波动，后续可通过数据清洗和类别均衡继续优化。</a:t>
            </a:r>
          </a:p>
        </p:txBody>
      </p:sp>
    </p:spTree>
    <p:extLst>
      <p:ext uri="{BB962C8B-B14F-4D97-AF65-F5344CB8AC3E}">
        <p14:creationId xmlns:p14="http://schemas.microsoft.com/office/powerpoint/2010/main" val="2159236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349BFA-8E25-45E9-92F0-B82EA397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桌面演示系统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F16395-477A-403D-A50E-0BB074D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591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PyQt5 原型已支持模型加载、画面显示、疲劳状态提示、截图保存和日志记录。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B266-37E7-4D8B-9A65-C627D63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8143875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79D33-1A21-4A7D-8CFC-CD7F647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5"/>
                </a:solidFill>
              </a:defRPr>
            </a:pPr>
            <a:r>
              <a:rPr sz="1350">
                <a:solidFill>
                  <a:srgbClr val="5B6775"/>
                </a:solidFill>
              </a:rPr>
              <a:t>打哈欠检测系统截图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C2A9C-1212-4DF1-89C6-37B28AA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52650"/>
            <a:ext cx="8143875" cy="7467600"/>
          </a:xfrm>
          <a:prstGeom xmlns:a="http://schemas.openxmlformats.org/drawingml/2006/main" prst="roundRect">
            <a:avLst>
              <a:gd name="adj" fmla="val 1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23B0-CF92-40E6-950D-4161252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815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5"/>
                </a:solidFill>
              </a:defRPr>
            </a:pPr>
            <a:r>
              <a:rPr sz="1350">
                <a:solidFill>
                  <a:srgbClr val="5B6775"/>
                </a:solidFill>
              </a:rPr>
              <a:t>系统演示截图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3e3884f444f11"/>
          <a:stretch xmlns:a="http://schemas.openxmlformats.org/drawingml/2006/main"/>
        </p:blipFill>
        <p:spPr>
          <a:xfrm xmlns:a="http://schemas.openxmlformats.org/drawingml/2006/main">
            <a:off x="838200" y="2926556"/>
            <a:ext cx="8096250" cy="6072188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67bc70a0949b2"/>
          <a:stretch xmlns:a="http://schemas.openxmlformats.org/drawingml/2006/main"/>
        </p:blipFill>
        <p:spPr>
          <a:xfrm xmlns:a="http://schemas.openxmlformats.org/drawingml/2006/main">
            <a:off x="9605282" y="2343150"/>
            <a:ext cx="7497536" cy="723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256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3D3967-5251-4F4E-8BC8-FF569F74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系统测试结果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6C8B26-B0BF-4789-8A42-5E76972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569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围绕模型推理、界面交互和论文材料留存完成验证。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A2737-177C-4CC9-8C87-0605FC85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81724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355C891-F833-41DD-AFCD-A49DCEC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E7C78"/>
                </a:solidFill>
              </a:defRPr>
            </a:pPr>
            <a:r>
              <a:rPr sz="1875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6CFF679-0E1D-4FEF-AE6C-4D0C210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0980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图片推理可输出检测框、类别、置信度和疲劳状态。</a:t>
            </a:r>
          </a:p>
        </p:txBody>
      </p:sp>
      <p:sp>
        <p:nvSpPr>
          <p:cNvPr id="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E7602A9-5196-441C-B97C-6068443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E7C78"/>
                </a:solidFill>
              </a:defRPr>
            </a:pPr>
            <a:r>
              <a:rPr sz="1875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1815807-71A3-455D-A643-9B7FF79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479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单图测试已保存检测截图。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B369A-FEBA-4EC0-8AFF-099B3D4F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81724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E2F17D0-18E5-43D3-911E-41C1482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5C9A"/>
                </a:solidFill>
              </a:defRPr>
            </a:pPr>
            <a:r>
              <a:rPr sz="1875" b="1">
                <a:solidFill>
                  <a:srgbClr val="2E5C9A"/>
                </a:solidFill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BE2DB8B-8250-4C8F-9DDB-B2A15A2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980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桌面界面可选择图片/视频并启动检测。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EA88DFE-67E8-4CC8-917E-25CD0D72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479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5C9A"/>
                </a:solidFill>
              </a:defRPr>
            </a:pPr>
            <a:r>
              <a:rPr sz="1875" b="1">
                <a:solidFill>
                  <a:srgbClr val="2E5C9A"/>
                </a:solidFill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122C03A-CAC2-4F96-984D-3BA1F031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479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摄像头入口已做异常提示，避免无设备时报错中断。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6474-6893-4700-8EC7-AAFA9E1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81724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2758DD2-0AB7-4501-8989-C165132C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3818D07-65F9-44BA-8E46-AA750F33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912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训练结果、混淆矩阵、PR/F1 曲线已归档。</a:t>
            </a:r>
          </a:p>
        </p:txBody>
      </p:sp>
      <p:sp>
        <p:nvSpPr>
          <p:cNvPr id="1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3C769B3-B6CB-4D99-BD0C-81CDE114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103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862B"/>
                </a:solidFill>
              </a:defRPr>
            </a:pPr>
            <a:r>
              <a:rPr sz="1875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B07E07E8-A411-4C77-8909-E5120F9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103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基线与 CBAM 模型权重均已同步到本地。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4E7E5-2124-4A4D-A537-A641ECE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15025"/>
            <a:ext cx="81724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6AE5822-61F7-4C3C-B563-BC32F15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1912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403A"/>
                </a:solidFill>
              </a:defRPr>
            </a:pPr>
            <a:r>
              <a:rPr sz="1875" b="1">
                <a:solidFill>
                  <a:srgbClr val="B5403A"/>
                </a:solidFill>
              </a:rPr>
              <a:t>•</a:t>
            </a:r>
          </a:p>
        </p:txBody>
      </p:sp>
      <p:sp>
        <p:nvSpPr>
          <p:cNvPr id="2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9DAC457-4154-4A0A-A910-C649882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项目 README、实验报告、系统测试报告和答辩材料索引已补齐。</a:t>
            </a:r>
          </a:p>
        </p:txBody>
      </p:sp>
      <p:sp>
        <p:nvSpPr>
          <p:cNvPr id="2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44440E6-AF30-4B29-9043-FC3EB2A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10350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5403A"/>
                </a:solidFill>
              </a:defRPr>
            </a:pPr>
            <a:r>
              <a:rPr sz="1875" b="1">
                <a:solidFill>
                  <a:srgbClr val="B5403A"/>
                </a:solidFill>
              </a:rPr>
              <a:t>•</a:t>
            </a:r>
          </a:p>
        </p:txBody>
      </p:sp>
      <p:sp>
        <p:nvSpPr>
          <p:cNvPr id="2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FC88D57-9C55-4975-8F0A-2540240E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714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后续可直接进入论文正文与 PPT 精修。</a:t>
            </a:r>
          </a:p>
        </p:txBody>
      </p:sp>
    </p:spTree>
    <p:extLst>
      <p:ext uri="{BB962C8B-B14F-4D97-AF65-F5344CB8AC3E}">
        <p14:creationId xmlns:p14="http://schemas.microsoft.com/office/powerpoint/2010/main" val="17741784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2B96F-2F1C-41FA-8831-48C7B021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12B"/>
                </a:solidFill>
              </a:defRPr>
            </a:pPr>
            <a:r>
              <a:rPr sz="4050" b="1">
                <a:solidFill>
                  <a:srgbClr val="17212B"/>
                </a:solidFill>
              </a:rPr>
              <a:t>总结与展望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AE9DE9F-411B-46BF-984A-7E0F7F5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739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775"/>
                </a:solidFill>
              </a:defRPr>
            </a:pPr>
            <a:r>
              <a:rPr sz="1950">
                <a:solidFill>
                  <a:srgbClr val="5B6775"/>
                </a:solidFill>
              </a:rPr>
              <a:t>当前系统已经形成“训练、推理、演示、材料归档”的毕业设计闭环。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92A90-2680-44C4-802F-D0412B9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5E5A"/>
                </a:solidFill>
              </a:defRPr>
            </a:pPr>
            <a:r>
              <a:rPr sz="3150" b="1">
                <a:solidFill>
                  <a:srgbClr val="075E5A"/>
                </a:solidFill>
              </a:rPr>
              <a:t>已完成</a:t>
            </a:r>
          </a:p>
        </p:txBody>
      </p:sp>
      <p:sp>
        <p:nvSpPr>
          <p:cNvPr id="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FB6B4F7-08C3-42E4-80C4-B4E79489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E26A20C-A15F-4EA4-97D5-5BA496E7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完成 YOLOv8n 与 YOLOv8n + CBAM 两组模型训练。</a:t>
            </a:r>
          </a:p>
        </p:txBody>
      </p:sp>
      <p:sp>
        <p:nvSpPr>
          <p:cNvPr id="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A29711F7-B393-4929-9A4C-F082121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04E8AAF-58DC-48D6-8CF9-4306A9E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完成本地桌面演示系统与截图材料。</a:t>
            </a:r>
          </a:p>
        </p:txBody>
      </p:sp>
      <p:sp>
        <p:nvSpPr>
          <p:cNvPr id="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7AC605E6-6B4D-4468-8D84-C86D921E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7C78"/>
                </a:solidFill>
              </a:defRPr>
            </a:pPr>
            <a:r>
              <a:rPr sz="2100" b="1">
                <a:solidFill>
                  <a:srgbClr val="0E7C78"/>
                </a:solidFill>
              </a:rPr>
              <a:t>•</a:t>
            </a:r>
          </a:p>
        </p:txBody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21C00FF-F64E-4ECB-A4B5-30DE5CF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完成实验报告、测试报告、论文素材和答辩提纲。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4FC11-0BB3-48E1-9139-3F9ABFD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862B"/>
                </a:solidFill>
              </a:defRPr>
            </a:pPr>
            <a:r>
              <a:rPr sz="3150" b="1">
                <a:solidFill>
                  <a:srgbClr val="C9862B"/>
                </a:solidFill>
              </a:rPr>
              <a:t>后续优化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FCA28C00-3E1B-467A-BAA8-C52E05A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2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447D469B-303B-4754-A2A6-03EA0BE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765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清洗异常标签并扩充夜间、遮挡、侧脸等样本。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08EC0B4-2E24-435E-8129-A57FFC21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4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A18F7A7-9313-446C-A315-74936C29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接入连续视频序列，训练 LSTM + Attention 疲劳状态分类。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E38A0A0-F8D8-462F-A6BF-1BF37A21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62B"/>
                </a:solidFill>
              </a:defRPr>
            </a:pPr>
            <a:r>
              <a:rPr sz="2100" b="1">
                <a:solidFill>
                  <a:srgbClr val="C9862B"/>
                </a:solidFill>
              </a:rPr>
              <a:t>•</a:t>
            </a:r>
          </a:p>
        </p:txBody>
      </p:sp>
      <p:sp>
        <p:nvSpPr>
          <p:cNvPr id="16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0C85501E-A5FE-40FD-AA0A-3EF94381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909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rPr sz="2100">
                <a:solidFill>
                  <a:srgbClr val="17212B"/>
                </a:solidFill>
              </a:rPr>
              <a:t>进一步评估 ONNX Runtime 推理速度和部署稳定性。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7D4E0688-9B60-48C5-B014-E5F314B6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808C"/>
                </a:solidFill>
              </a:defRPr>
            </a:pPr>
            <a:r>
              <a:rPr sz="1125">
                <a:solidFill>
                  <a:srgbClr val="71808C"/>
                </a:solidFill>
              </a:rPr>
              <a:t>答辩建议：现场优先演示 CBAM 模型，并用实验结果说明注意力机制的贡献。</a:t>
            </a:r>
          </a:p>
        </p:txBody>
      </p:sp>
    </p:spTree>
    <p:extLst>
      <p:ext uri="{BB962C8B-B14F-4D97-AF65-F5344CB8AC3E}">
        <p14:creationId xmlns:p14="http://schemas.microsoft.com/office/powerpoint/2010/main" val="1865689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2026-05-01T08:23:29.6300000Z</dcterms:created>
  <dcterms:modified xsi:type="dcterms:W3CDTF">2026-05-01T08:23:29.6300000Z</dcterms:modified>
</coreProperties>
</file>